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5"/>
    <p:sldMasterId id="2147483668" r:id="rId6"/>
  </p:sldMasterIdLst>
  <p:notesMasterIdLst>
    <p:notesMasterId r:id="rId29"/>
  </p:notesMasterIdLst>
  <p:sldIdLst>
    <p:sldId id="258" r:id="rId7"/>
    <p:sldId id="259" r:id="rId8"/>
    <p:sldId id="316" r:id="rId9"/>
    <p:sldId id="322" r:id="rId10"/>
    <p:sldId id="323" r:id="rId11"/>
    <p:sldId id="324" r:id="rId12"/>
    <p:sldId id="318" r:id="rId13"/>
    <p:sldId id="325" r:id="rId14"/>
    <p:sldId id="326" r:id="rId15"/>
    <p:sldId id="328" r:id="rId16"/>
    <p:sldId id="319" r:id="rId17"/>
    <p:sldId id="330" r:id="rId18"/>
    <p:sldId id="320" r:id="rId19"/>
    <p:sldId id="331" r:id="rId20"/>
    <p:sldId id="321" r:id="rId21"/>
    <p:sldId id="332" r:id="rId22"/>
    <p:sldId id="333" r:id="rId23"/>
    <p:sldId id="334" r:id="rId24"/>
    <p:sldId id="335" r:id="rId25"/>
    <p:sldId id="317" r:id="rId26"/>
    <p:sldId id="336" r:id="rId27"/>
    <p:sldId id="294" r:id="rId28"/>
  </p:sldIdLst>
  <p:sldSz cx="11520488" cy="6480175"/>
  <p:notesSz cx="6858000" cy="9144000"/>
  <p:embeddedFontLst>
    <p:embeddedFont>
      <p:font typeface="Allianz Neo PPT" panose="020B0604020202020204" charset="0"/>
      <p:regular r:id="rId30"/>
      <p:bold r:id="rId31"/>
      <p:italic r:id="rId32"/>
      <p:boldItalic r:id="rId33"/>
    </p:embeddedFont>
  </p:embeddedFontLst>
  <p:defaultTextStyle>
    <a:defPPr>
      <a:defRPr lang="de-DE"/>
    </a:defPPr>
    <a:lvl1pPr marL="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A10C1B-F963-4486-B06E-846202687159}" v="126" dt="2025-05-19T07:01:14.215"/>
    <p1510:client id="{E52ADD54-2656-41A6-8E32-7B39C4CED5FA}" v="264" dt="2025-05-19T07:03:33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font" Target="fonts/font4.fntdata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font" Target="fonts/font3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2.fntdata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font" Target="fonts/font1.fntdata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C3D90-D258-41E1-BFE3-29A340648A7E}" type="datetimeFigureOut">
              <a:rPr lang="de-DE" smtClean="0"/>
              <a:t>02.02.2026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E0F7A-EA63-40E1-97FB-D173EE3BA0CC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443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E2581BF6-597A-45B4-8AC9-E60836C8E9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51500" y="0"/>
            <a:ext cx="5868988" cy="6480175"/>
          </a:xfrm>
          <a:solidFill>
            <a:schemeClr val="tx2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799999"/>
            <a:ext cx="5075237" cy="2268000"/>
          </a:xfrm>
        </p:spPr>
        <p:txBody>
          <a:bodyPr rIns="216000" anchor="ctr" anchorCtr="0"/>
          <a:lstStyle>
            <a:lvl1pPr algn="l">
              <a:lnSpc>
                <a:spcPct val="80000"/>
              </a:lnSpc>
              <a:defRPr sz="7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4536000"/>
            <a:ext cx="5075237" cy="531099"/>
          </a:xfrm>
        </p:spPr>
        <p:txBody>
          <a:bodyPr rIns="216000"/>
          <a:lstStyle>
            <a:lvl1pPr marL="0" indent="0" algn="l">
              <a:buNone/>
              <a:defRPr sz="15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DB0C78F-5BF6-4741-8EF4-0317AF8FB6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4" y="5760000"/>
            <a:ext cx="1547812" cy="360000"/>
          </a:xfrm>
        </p:spPr>
        <p:txBody>
          <a:bodyPr anchor="b" anchorCtr="0"/>
          <a:lstStyle>
            <a:lvl1pPr>
              <a:defRPr sz="750"/>
            </a:lvl1pPr>
          </a:lstStyle>
          <a:p>
            <a:pPr lvl="0"/>
            <a:r>
              <a:rPr lang="de-DE"/>
              <a:t>Erste Ebene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CED49C62-4C22-4829-ACC8-9191840D3A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32026" y="5760000"/>
            <a:ext cx="1547812" cy="360000"/>
          </a:xfrm>
        </p:spPr>
        <p:txBody>
          <a:bodyPr anchor="b" anchorCtr="0"/>
          <a:lstStyle>
            <a:lvl1pPr>
              <a:defRPr sz="750"/>
            </a:lvl1pPr>
          </a:lstStyle>
          <a:p>
            <a:pPr lvl="0"/>
            <a:r>
              <a:rPr lang="de-DE"/>
              <a:t>Erste Ebene</a:t>
            </a:r>
          </a:p>
        </p:txBody>
      </p:sp>
    </p:spTree>
    <p:extLst>
      <p:ext uri="{BB962C8B-B14F-4D97-AF65-F5344CB8AC3E}">
        <p14:creationId xmlns:p14="http://schemas.microsoft.com/office/powerpoint/2010/main" val="263631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13B6A4-8638-4E3B-9F05-55866D8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612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4" y="2268538"/>
            <a:ext cx="5075236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1734" y="2268538"/>
            <a:ext cx="5075237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871759D-1483-4B12-A222-90C19F20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36FFF93-5CB5-4BD1-B035-C1234D6E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3D4074F-A8C9-4F58-86BF-73ADF6EC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9666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C99564-206A-4E78-879E-461DE1C1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6CE44-58CD-4A81-8691-BCFF7611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C3DA5C-4C9C-4ACC-A420-FC8EA23D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506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970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7427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4F1EA0-7738-46BE-A0A5-83AD2F0E50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06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without Top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915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FB93F98-2502-4A46-903A-C90B11A87B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-144000"/>
            <a:ext cx="1044000" cy="885704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1DB0DDD-4B70-4A6A-9137-29788C24289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313" y="1368425"/>
            <a:ext cx="10367962" cy="4284663"/>
          </a:xfrm>
        </p:spPr>
        <p:txBody>
          <a:bodyPr/>
          <a:lstStyle>
            <a:lvl1pPr>
              <a:lnSpc>
                <a:spcPct val="80000"/>
              </a:lnSpc>
              <a:spcAft>
                <a:spcPts val="2400"/>
              </a:spcAft>
              <a:defRPr sz="47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601692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Key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543F4184-F695-473F-B37A-0DA4B8E546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520488" cy="6480175"/>
          </a:xfrm>
          <a:solidFill>
            <a:schemeClr val="bg2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F37F0F-CC12-4317-9811-C30269EDD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9577E3-FEC7-432A-BEA6-FED227457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86BD1BC4-FEF0-4830-B116-C4AAB3BFE0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88000" y="3528000"/>
            <a:ext cx="5544000" cy="2125088"/>
          </a:xfrm>
        </p:spPr>
        <p:txBody>
          <a:bodyPr/>
          <a:lstStyle>
            <a:lvl1pPr>
              <a:lnSpc>
                <a:spcPct val="80000"/>
              </a:lnSpc>
              <a:defRPr sz="4700">
                <a:solidFill>
                  <a:schemeClr val="tx1"/>
                </a:solidFill>
              </a:defRPr>
            </a:lvl1pPr>
            <a:lvl2pPr algn="r">
              <a:lnSpc>
                <a:spcPct val="80000"/>
              </a:lnSpc>
              <a:defRPr sz="4700">
                <a:solidFill>
                  <a:srgbClr val="13A0D3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15526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16000" y="1296000"/>
            <a:ext cx="12096000" cy="2520000"/>
          </a:xfrm>
        </p:spPr>
        <p:txBody>
          <a:bodyPr rIns="216000" anchor="b" anchorCtr="0"/>
          <a:lstStyle>
            <a:lvl1pPr algn="r">
              <a:lnSpc>
                <a:spcPct val="80000"/>
              </a:lnSpc>
              <a:defRPr sz="18900"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16000" y="3384000"/>
            <a:ext cx="12096000" cy="3384549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18900">
                <a:solidFill>
                  <a:srgbClr val="13A0D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5BE87-8858-4487-A7B7-4B925CB9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Copyright Allianz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6D94C-7A9E-4443-A1F8-19DBCAF0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61BDC56-BD94-4C43-90E8-CBB9A53F26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69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2" y="1692000"/>
            <a:ext cx="10367963" cy="1584000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9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763" y="3168000"/>
            <a:ext cx="6767512" cy="1584000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9400">
                <a:solidFill>
                  <a:srgbClr val="13A0D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88464" y="468313"/>
            <a:ext cx="1547812" cy="1223687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700">
                <a:solidFill>
                  <a:srgbClr val="122B54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30324D-388D-4C97-AE26-194C8D2A9E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7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2" y="1692000"/>
            <a:ext cx="10367963" cy="1584000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9400">
                <a:solidFill>
                  <a:srgbClr val="122B54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8763" y="3168000"/>
            <a:ext cx="6767512" cy="1584000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9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Untertitelformat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288464" y="468313"/>
            <a:ext cx="1547812" cy="1223687"/>
          </a:xfrm>
        </p:spPr>
        <p:txBody>
          <a:bodyPr anchor="t" anchorCtr="0"/>
          <a:lstStyle>
            <a:lvl1pPr algn="r">
              <a:lnSpc>
                <a:spcPct val="80000"/>
              </a:lnSpc>
              <a:defRPr sz="4700">
                <a:solidFill>
                  <a:srgbClr val="122B54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CFDCE14-724D-49F7-8BAD-435E832695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655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5" y="2268538"/>
            <a:ext cx="3311524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95738" y="2268538"/>
            <a:ext cx="3313112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AC653B4F-70E3-43C6-9A6A-30D34B126E8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524750" y="2268000"/>
            <a:ext cx="3311525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ED9CC3-FB9A-433A-B0C4-CCC2B5C9E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DA8F77-D054-4725-9E94-DAAB8C08F0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C8D8D1-129B-451D-A656-331AE3E87D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1694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16000" y="1692000"/>
            <a:ext cx="11736000" cy="1584000"/>
          </a:xfrm>
        </p:spPr>
        <p:txBody>
          <a:bodyPr rIns="216000" anchor="b" anchorCtr="0"/>
          <a:lstStyle>
            <a:lvl1pPr algn="l">
              <a:lnSpc>
                <a:spcPct val="80000"/>
              </a:lnSpc>
              <a:defRPr sz="122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" y="3168000"/>
            <a:ext cx="11880000" cy="1584000"/>
          </a:xfrm>
        </p:spPr>
        <p:txBody>
          <a:bodyPr rIns="216000"/>
          <a:lstStyle>
            <a:lvl1pPr marL="0" indent="0" algn="r">
              <a:lnSpc>
                <a:spcPct val="80000"/>
              </a:lnSpc>
              <a:buNone/>
              <a:defRPr sz="12200">
                <a:solidFill>
                  <a:srgbClr val="13A0D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Untertitelformat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DB0C78F-5BF6-4741-8EF4-0317AF8FB6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453A991D-E53C-4B2C-9CE8-F24616E7F3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2" y="5760000"/>
            <a:ext cx="5183187" cy="360000"/>
          </a:xfrm>
        </p:spPr>
        <p:txBody>
          <a:bodyPr anchor="b" anchorCtr="0"/>
          <a:lstStyle>
            <a:lvl1pPr>
              <a:lnSpc>
                <a:spcPct val="100000"/>
              </a:lnSpc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Erste Ebene</a:t>
            </a:r>
          </a:p>
        </p:txBody>
      </p:sp>
    </p:spTree>
    <p:extLst>
      <p:ext uri="{BB962C8B-B14F-4D97-AF65-F5344CB8AC3E}">
        <p14:creationId xmlns:p14="http://schemas.microsoft.com/office/powerpoint/2010/main" val="1558217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6FDAA8-8B2C-4943-A92E-AA894087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4BE1ED-5593-43E7-90D4-F1D53BC3E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C7B7FF-9A37-439A-9428-51EF0135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13B6A4-8638-4E3B-9F05-55866D873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0E379-F9CC-4794-962C-33148E5C7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6953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4" y="2268538"/>
            <a:ext cx="5075236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1039" y="2268538"/>
            <a:ext cx="5075236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871759D-1483-4B12-A222-90C19F20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F36FFF93-5CB5-4BD1-B035-C1234D6E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E3D4074F-A8C9-4F58-86BF-73ADF6EC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3302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E0FA48-9F47-4B37-94C3-D2CE80E9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7C99564-206A-4E78-879E-461DE1C1E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1E6CE44-58CD-4A81-8691-BCFF7611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C3DA5C-4C9C-4ACC-A420-FC8EA23DD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1983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44D67-8CAD-43A4-B13B-256079466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2190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Z Blank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1790E4B-B7EA-42D3-8131-523E32566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BD1200-5847-478B-A5E7-429A56D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3795C5-4CD6-4FB0-947E-2352201729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178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Text+Fond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1BBB61B-6E7A-4BFF-9CB2-ED26389C4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1152524"/>
            <a:ext cx="3311524" cy="45005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17BF0A-6C84-41F6-BF3F-CBB13FEE33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995738" y="1152525"/>
            <a:ext cx="6840537" cy="4500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B125DD-B218-4B65-A292-A67AEC69AB5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0E4D6E-27A0-4B8A-8544-9BB76F9CE2F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E3945F-1854-4B62-BEAE-A859F45E398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16819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Quote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17BF0A-6C84-41F6-BF3F-CBB13FEE33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313" y="1368425"/>
            <a:ext cx="10367962" cy="4284663"/>
          </a:xfrm>
        </p:spPr>
        <p:txBody>
          <a:bodyPr/>
          <a:lstStyle>
            <a:lvl1pPr>
              <a:lnSpc>
                <a:spcPct val="80000"/>
              </a:lnSpc>
              <a:spcAft>
                <a:spcPts val="2400"/>
              </a:spcAft>
              <a:defRPr sz="47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FC5EB96C-1978-4B37-B940-72FCA15AA23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Copyright Allianz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DA316743-3033-4FC9-8ADF-C75E03C180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7A28BB5-45D7-4A7F-B5F7-BB60CFEF37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-144000"/>
            <a:ext cx="1044000" cy="88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963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Chapter Divider"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344D3D-750E-4AA5-BD45-F6CFA3D07F0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-216000" y="1296000"/>
            <a:ext cx="12096000" cy="2520000"/>
          </a:xfrm>
        </p:spPr>
        <p:txBody>
          <a:bodyPr rIns="216000" anchor="b" anchorCtr="0"/>
          <a:lstStyle>
            <a:lvl1pPr algn="r">
              <a:lnSpc>
                <a:spcPct val="80000"/>
              </a:lnSpc>
              <a:defRPr sz="18900">
                <a:solidFill>
                  <a:schemeClr val="tx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F4A5A7B-32F1-4538-86EC-D0B2317455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-216000" y="3384000"/>
            <a:ext cx="12096000" cy="3384549"/>
          </a:xfrm>
        </p:spPr>
        <p:txBody>
          <a:bodyPr rIns="216000"/>
          <a:lstStyle>
            <a:lvl1pPr marL="0" indent="0" algn="l">
              <a:lnSpc>
                <a:spcPct val="80000"/>
              </a:lnSpc>
              <a:buNone/>
              <a:defRPr sz="18900">
                <a:solidFill>
                  <a:srgbClr val="13A0D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Unter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C5BE87-8858-4487-A7B7-4B925CB9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© Copyright Allianz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6D94C-7A9E-4443-A1F8-19DBCAF0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ED41466-DBEC-42EF-BA33-38FB35FBA9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313" y="468313"/>
            <a:ext cx="1944000" cy="48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650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6D3917-AE3D-4FCF-A7A1-1898AD29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EE051C-6EF3-470E-8A6F-3ACCAEC2B8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5" y="2268538"/>
            <a:ext cx="3311524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F1D8F2-5ECC-4655-A1DA-16D1D9E29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95738" y="2268538"/>
            <a:ext cx="3311524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3">
            <a:extLst>
              <a:ext uri="{FF2B5EF4-FFF2-40B4-BE49-F238E27FC236}">
                <a16:creationId xmlns:a16="http://schemas.microsoft.com/office/drawing/2014/main" id="{AC653B4F-70E3-43C6-9A6A-30D34B126E8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524750" y="2268000"/>
            <a:ext cx="3311524" cy="33845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ED9CC3-FB9A-433A-B0C4-CCC2B5C9E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DA8F77-D054-4725-9E94-DAAB8C08F06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Topline goes here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C8D8D1-129B-451D-A656-331AE3E87D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1385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1152524"/>
            <a:ext cx="10367962" cy="9001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4" y="2268538"/>
            <a:ext cx="10367961" cy="33845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 nicht verwenden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011674-EBDC-44CC-9043-F666555AC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-5400000">
            <a:off x="9594058" y="3726657"/>
            <a:ext cx="3384550" cy="468312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>
            <a:lvl1pPr algn="l">
              <a:defRPr sz="750">
                <a:solidFill>
                  <a:schemeClr val="bg1"/>
                </a:solidFill>
              </a:defRPr>
            </a:lvl1pPr>
          </a:lstStyle>
          <a:p>
            <a:r>
              <a:rPr lang="de-DE"/>
              <a:t>© Copyright Allianz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3" y="468000"/>
            <a:ext cx="5075237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1" cap="all" spc="6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FEBF46-B211-4AF6-9DBD-FCB513815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2174" y="5653089"/>
            <a:ext cx="468313" cy="827086"/>
          </a:xfrm>
          <a:prstGeom prst="rect">
            <a:avLst/>
          </a:prstGeom>
        </p:spPr>
        <p:txBody>
          <a:bodyPr vert="horz" lIns="7200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bg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295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84" r:id="rId6"/>
    <p:sldLayoutId id="2147483686" r:id="rId7"/>
    <p:sldLayoutId id="2147483687" r:id="rId8"/>
    <p:sldLayoutId id="2147483688" r:id="rId9"/>
    <p:sldLayoutId id="2147483661" r:id="rId10"/>
    <p:sldLayoutId id="2147483689" r:id="rId11"/>
    <p:sldLayoutId id="2147483690" r:id="rId12"/>
    <p:sldLayoutId id="2147483665" r:id="rId13"/>
    <p:sldLayoutId id="2147483663" r:id="rId14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700" kern="1200">
          <a:solidFill>
            <a:schemeClr val="bg1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500" kern="1200">
          <a:solidFill>
            <a:schemeClr val="bg1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bg1"/>
          </a:solidFill>
          <a:latin typeface="+mn-lt"/>
          <a:ea typeface="+mn-ea"/>
          <a:cs typeface="+mn-cs"/>
        </a:defRPr>
      </a:lvl3pPr>
      <a:lvl4pPr marL="216000" indent="-216000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500" kern="1200">
          <a:solidFill>
            <a:schemeClr val="bg1"/>
          </a:solidFill>
          <a:latin typeface="+mn-lt"/>
          <a:ea typeface="+mn-ea"/>
          <a:cs typeface="+mn-cs"/>
        </a:defRPr>
      </a:lvl4pPr>
      <a:lvl5pPr marL="216000" indent="-216000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36000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5" userDrawn="1">
          <p15:clr>
            <a:srgbClr val="F26B43"/>
          </p15:clr>
        </p15:guide>
        <p15:guide id="2" pos="6826" userDrawn="1">
          <p15:clr>
            <a:srgbClr val="F26B43"/>
          </p15:clr>
        </p15:guide>
        <p15:guide id="3" orient="horz" pos="295" userDrawn="1">
          <p15:clr>
            <a:srgbClr val="F26B43"/>
          </p15:clr>
        </p15:guide>
        <p15:guide id="6" orient="horz" pos="3561" userDrawn="1">
          <p15:clr>
            <a:srgbClr val="F26B43"/>
          </p15:clr>
        </p15:guide>
        <p15:guide id="9" pos="1270" userDrawn="1">
          <p15:clr>
            <a:srgbClr val="F26B43"/>
          </p15:clr>
        </p15:guide>
        <p15:guide id="10" pos="1406" userDrawn="1">
          <p15:clr>
            <a:srgbClr val="F26B43"/>
          </p15:clr>
        </p15:guide>
        <p15:guide id="11" pos="2381" userDrawn="1">
          <p15:clr>
            <a:srgbClr val="F26B43"/>
          </p15:clr>
        </p15:guide>
        <p15:guide id="12" pos="2517" userDrawn="1">
          <p15:clr>
            <a:srgbClr val="F26B43"/>
          </p15:clr>
        </p15:guide>
        <p15:guide id="13" pos="3492" userDrawn="1">
          <p15:clr>
            <a:srgbClr val="F26B43"/>
          </p15:clr>
        </p15:guide>
        <p15:guide id="14" pos="3629" userDrawn="1">
          <p15:clr>
            <a:srgbClr val="F26B43"/>
          </p15:clr>
        </p15:guide>
        <p15:guide id="15" pos="4604" userDrawn="1">
          <p15:clr>
            <a:srgbClr val="F26B43"/>
          </p15:clr>
        </p15:guide>
        <p15:guide id="16" pos="4740" userDrawn="1">
          <p15:clr>
            <a:srgbClr val="F26B43"/>
          </p15:clr>
        </p15:guide>
        <p15:guide id="17" pos="5715" userDrawn="1">
          <p15:clr>
            <a:srgbClr val="F26B43"/>
          </p15:clr>
        </p15:guide>
        <p15:guide id="18" pos="5851" userDrawn="1">
          <p15:clr>
            <a:srgbClr val="F26B43"/>
          </p15:clr>
        </p15:guide>
        <p15:guide id="19" orient="horz" pos="726" userDrawn="1">
          <p15:clr>
            <a:srgbClr val="F26B43"/>
          </p15:clr>
        </p15:guide>
        <p15:guide id="20" orient="horz" pos="862" userDrawn="1">
          <p15:clr>
            <a:srgbClr val="F26B43"/>
          </p15:clr>
        </p15:guide>
        <p15:guide id="21" orient="horz" pos="1293" userDrawn="1">
          <p15:clr>
            <a:srgbClr val="F26B43"/>
          </p15:clr>
        </p15:guide>
        <p15:guide id="22" orient="horz" pos="14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22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DE283E6-A5BA-4B3C-88E4-54966FAC3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1152524"/>
            <a:ext cx="10367962" cy="9001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845E14-909C-4B3E-8D6E-D6710B87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4" y="2268538"/>
            <a:ext cx="10367962" cy="33845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 nicht verwenden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011674-EBDC-44CC-9043-F666555AC2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-5400000">
            <a:off x="9594058" y="3726657"/>
            <a:ext cx="3384550" cy="468312"/>
          </a:xfrm>
          <a:prstGeom prst="rect">
            <a:avLst/>
          </a:prstGeom>
        </p:spPr>
        <p:txBody>
          <a:bodyPr vert="horz" lIns="0" tIns="36000" rIns="0" bIns="0" rtlCol="0" anchor="t" anchorCtr="0">
            <a:noAutofit/>
          </a:bodyPr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© Copyright Allianz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8440D7-D4EC-4E78-AA22-CBC23D0FE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3" y="468000"/>
            <a:ext cx="5075237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 b="1" cap="all" spc="6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Topline goes here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FEBF46-B211-4AF6-9DBD-FCB513815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2174" y="5653089"/>
            <a:ext cx="468313" cy="827086"/>
          </a:xfrm>
          <a:prstGeom prst="rect">
            <a:avLst/>
          </a:prstGeom>
        </p:spPr>
        <p:txBody>
          <a:bodyPr vert="horz" lIns="7200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fld id="{0F96B16C-3F5F-44BC-AFCC-8CBCBD90898D}" type="slidenum">
              <a:rPr lang="de-DE" smtClean="0"/>
              <a:pPr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15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3" r:id="rId2"/>
    <p:sldLayoutId id="2147483678" r:id="rId3"/>
    <p:sldLayoutId id="2147483681" r:id="rId4"/>
    <p:sldLayoutId id="2147483683" r:id="rId5"/>
    <p:sldLayoutId id="2147483685" r:id="rId6"/>
    <p:sldLayoutId id="2147483671" r:id="rId7"/>
    <p:sldLayoutId id="2147483672" r:id="rId8"/>
    <p:sldLayoutId id="2147483675" r:id="rId9"/>
    <p:sldLayoutId id="2147483679" r:id="rId1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700" kern="1200">
          <a:solidFill>
            <a:schemeClr val="tx1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+mj-lt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216000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" indent="-216000" algn="l" defTabSz="9144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60000" indent="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None/>
        <a:defRPr sz="1800" kern="1200">
          <a:solidFill>
            <a:srgbClr val="FF000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5">
          <p15:clr>
            <a:srgbClr val="F26B43"/>
          </p15:clr>
        </p15:guide>
        <p15:guide id="2" pos="6826" userDrawn="1">
          <p15:clr>
            <a:srgbClr val="F26B43"/>
          </p15:clr>
        </p15:guide>
        <p15:guide id="3" orient="horz" pos="295">
          <p15:clr>
            <a:srgbClr val="F26B43"/>
          </p15:clr>
        </p15:guide>
        <p15:guide id="6" orient="horz" pos="3561">
          <p15:clr>
            <a:srgbClr val="F26B43"/>
          </p15:clr>
        </p15:guide>
        <p15:guide id="9" pos="1270" userDrawn="1">
          <p15:clr>
            <a:srgbClr val="F26B43"/>
          </p15:clr>
        </p15:guide>
        <p15:guide id="10" pos="1406" userDrawn="1">
          <p15:clr>
            <a:srgbClr val="F26B43"/>
          </p15:clr>
        </p15:guide>
        <p15:guide id="11" pos="2381" userDrawn="1">
          <p15:clr>
            <a:srgbClr val="F26B43"/>
          </p15:clr>
        </p15:guide>
        <p15:guide id="12" pos="2517" userDrawn="1">
          <p15:clr>
            <a:srgbClr val="F26B43"/>
          </p15:clr>
        </p15:guide>
        <p15:guide id="13" pos="3492" userDrawn="1">
          <p15:clr>
            <a:srgbClr val="F26B43"/>
          </p15:clr>
        </p15:guide>
        <p15:guide id="14" pos="3629" userDrawn="1">
          <p15:clr>
            <a:srgbClr val="F26B43"/>
          </p15:clr>
        </p15:guide>
        <p15:guide id="15" pos="4604" userDrawn="1">
          <p15:clr>
            <a:srgbClr val="F26B43"/>
          </p15:clr>
        </p15:guide>
        <p15:guide id="16" pos="4740" userDrawn="1">
          <p15:clr>
            <a:srgbClr val="F26B43"/>
          </p15:clr>
        </p15:guide>
        <p15:guide id="17" pos="5715" userDrawn="1">
          <p15:clr>
            <a:srgbClr val="F26B43"/>
          </p15:clr>
        </p15:guide>
        <p15:guide id="18" pos="5851" userDrawn="1">
          <p15:clr>
            <a:srgbClr val="F26B43"/>
          </p15:clr>
        </p15:guide>
        <p15:guide id="19" orient="horz" pos="726">
          <p15:clr>
            <a:srgbClr val="F26B43"/>
          </p15:clr>
        </p15:guide>
        <p15:guide id="20" orient="horz" pos="862">
          <p15:clr>
            <a:srgbClr val="F26B43"/>
          </p15:clr>
        </p15:guide>
        <p15:guide id="21" orient="horz" pos="1293">
          <p15:clr>
            <a:srgbClr val="F26B43"/>
          </p15:clr>
        </p15:guide>
        <p15:guide id="22" orient="horz" pos="142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github.com/juanbaezl/Car-Insurance-Claim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AD26D70-5616-4C05-9FA2-2E55246088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799999"/>
            <a:ext cx="5075237" cy="2268000"/>
          </a:xfrm>
        </p:spPr>
        <p:txBody>
          <a:bodyPr anchor="ctr">
            <a:normAutofit/>
          </a:bodyPr>
          <a:lstStyle/>
          <a:p>
            <a:r>
              <a:rPr lang="es-CO" sz="4400" b="1" dirty="0"/>
              <a:t>Prueba para Profesional</a:t>
            </a:r>
            <a:br>
              <a:rPr lang="en-US" sz="4400" dirty="0"/>
            </a:br>
            <a:r>
              <a:rPr lang="es-ES" sz="4400" dirty="0">
                <a:solidFill>
                  <a:schemeClr val="accent4"/>
                </a:solidFill>
              </a:rPr>
              <a:t>Senior de Ciencia de Datos </a:t>
            </a:r>
            <a:endParaRPr lang="de-DE" sz="4400" dirty="0">
              <a:solidFill>
                <a:schemeClr val="accent4"/>
              </a:solidFill>
            </a:endParaRPr>
          </a:p>
        </p:txBody>
      </p:sp>
      <p:sp>
        <p:nvSpPr>
          <p:cNvPr id="9" name="Untertitel 8">
            <a:extLst>
              <a:ext uri="{FF2B5EF4-FFF2-40B4-BE49-F238E27FC236}">
                <a16:creationId xmlns:a16="http://schemas.microsoft.com/office/drawing/2014/main" id="{D57B8FD9-B4C3-47DC-BF32-3A803969B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2" y="4612426"/>
            <a:ext cx="5075237" cy="1290353"/>
          </a:xfrm>
        </p:spPr>
        <p:txBody>
          <a:bodyPr anchor="t">
            <a:noAutofit/>
          </a:bodyPr>
          <a:lstStyle/>
          <a:p>
            <a:pPr>
              <a:spcAft>
                <a:spcPts val="600"/>
              </a:spcAft>
            </a:pPr>
            <a:r>
              <a:rPr lang="de-DE" sz="1800" dirty="0"/>
              <a:t>Juan Carlos Baez Lizarazo</a:t>
            </a:r>
          </a:p>
          <a:p>
            <a:pPr>
              <a:spcAft>
                <a:spcPts val="600"/>
              </a:spcAft>
            </a:pPr>
            <a:r>
              <a:rPr lang="de-DE" sz="1800" b="1" dirty="0"/>
              <a:t>Repositorio git </a:t>
            </a:r>
            <a:r>
              <a:rPr lang="de-DE" sz="1800" b="1" dirty="0">
                <a:hlinkClick r:id="rId2"/>
              </a:rPr>
              <a:t>https://github.com/juanbaezl/Car-Insurance-Claim.git</a:t>
            </a:r>
            <a:r>
              <a:rPr lang="de-DE" sz="1800" b="1" dirty="0"/>
              <a:t> </a:t>
            </a:r>
          </a:p>
        </p:txBody>
      </p:sp>
      <p:pic>
        <p:nvPicPr>
          <p:cNvPr id="1026" name="Picture 2" descr="How to avoid rejection of insurance claim">
            <a:extLst>
              <a:ext uri="{FF2B5EF4-FFF2-40B4-BE49-F238E27FC236}">
                <a16:creationId xmlns:a16="http://schemas.microsoft.com/office/drawing/2014/main" id="{9DBA9EBD-C4F7-2BFA-B37A-DDD773448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7" y="1413076"/>
            <a:ext cx="5994562" cy="337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86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080B7E-C6CE-4560-9592-5A09C2DE0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 noProof="0" dirty="0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9FBDAD-9508-4725-89E9-94C98365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es-CO" noProof="0" smtClean="0"/>
              <a:pPr/>
              <a:t>2</a:t>
            </a:fld>
            <a:endParaRPr lang="es-CO" noProof="0" dirty="0"/>
          </a:p>
        </p:txBody>
      </p:sp>
      <p:sp>
        <p:nvSpPr>
          <p:cNvPr id="9" name="Titel 7">
            <a:extLst>
              <a:ext uri="{FF2B5EF4-FFF2-40B4-BE49-F238E27FC236}">
                <a16:creationId xmlns:a16="http://schemas.microsoft.com/office/drawing/2014/main" id="{96691009-8A79-4B19-A8ED-C1CA988A9DF8}"/>
              </a:ext>
            </a:extLst>
          </p:cNvPr>
          <p:cNvSpPr txBox="1">
            <a:spLocks/>
          </p:cNvSpPr>
          <p:nvPr/>
        </p:nvSpPr>
        <p:spPr>
          <a:xfrm>
            <a:off x="3995738" y="488637"/>
            <a:ext cx="6840000" cy="676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noProof="0" dirty="0"/>
              <a:t>Agenda / </a:t>
            </a:r>
            <a:r>
              <a:rPr lang="es-CO" noProof="0" dirty="0">
                <a:solidFill>
                  <a:schemeClr val="accent4"/>
                </a:solidFill>
              </a:rPr>
              <a:t>Contenido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B490E-5DE9-DA62-278F-F86340B6070B}"/>
              </a:ext>
            </a:extLst>
          </p:cNvPr>
          <p:cNvSpPr txBox="1"/>
          <p:nvPr/>
        </p:nvSpPr>
        <p:spPr>
          <a:xfrm>
            <a:off x="3422723" y="1914242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kern="1200" noProof="0" dirty="0">
                <a:solidFill>
                  <a:srgbClr val="13A0D3"/>
                </a:solidFill>
                <a:effectLst/>
                <a:latin typeface="Allianz Neo PPT" panose="020B0604020202020204" charset="0"/>
                <a:ea typeface="+mn-ea"/>
                <a:cs typeface="+mn-cs"/>
              </a:rPr>
              <a:t>1</a:t>
            </a:r>
            <a:endParaRPr lang="es-CO" sz="4400" noProof="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BCA98-D2A4-8F25-4B1C-9EFEC32169B1}"/>
              </a:ext>
            </a:extLst>
          </p:cNvPr>
          <p:cNvSpPr txBox="1"/>
          <p:nvPr/>
        </p:nvSpPr>
        <p:spPr>
          <a:xfrm>
            <a:off x="3995737" y="1976150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Entendimiento del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BEC45-DFB8-1183-94C0-65DF7668F3F6}"/>
              </a:ext>
            </a:extLst>
          </p:cNvPr>
          <p:cNvSpPr txBox="1"/>
          <p:nvPr/>
        </p:nvSpPr>
        <p:spPr>
          <a:xfrm>
            <a:off x="3427486" y="256092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2</a:t>
            </a:r>
            <a:endParaRPr lang="es-CO" sz="4400" noProof="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F4D797-D235-E6F8-452C-B9F225356CA8}"/>
              </a:ext>
            </a:extLst>
          </p:cNvPr>
          <p:cNvSpPr txBox="1"/>
          <p:nvPr/>
        </p:nvSpPr>
        <p:spPr>
          <a:xfrm>
            <a:off x="3417960" y="3249211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3</a:t>
            </a:r>
            <a:endParaRPr lang="es-CO" sz="4400" noProof="0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BEAC6D-BFAC-82F5-896A-CFDAFF659AC4}"/>
              </a:ext>
            </a:extLst>
          </p:cNvPr>
          <p:cNvSpPr txBox="1"/>
          <p:nvPr/>
        </p:nvSpPr>
        <p:spPr>
          <a:xfrm>
            <a:off x="3427486" y="391533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4</a:t>
            </a:r>
            <a:endParaRPr lang="es-CO" sz="4400" noProof="0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49A79B-FCA4-D515-4B01-05032BE6AA02}"/>
              </a:ext>
            </a:extLst>
          </p:cNvPr>
          <p:cNvSpPr txBox="1"/>
          <p:nvPr/>
        </p:nvSpPr>
        <p:spPr>
          <a:xfrm>
            <a:off x="3417960" y="4584180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5</a:t>
            </a:r>
            <a:endParaRPr lang="es-CO" sz="4400" noProof="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730678-D0B0-8815-7BA6-4BBE2A2A7361}"/>
              </a:ext>
            </a:extLst>
          </p:cNvPr>
          <p:cNvSpPr txBox="1"/>
          <p:nvPr/>
        </p:nvSpPr>
        <p:spPr>
          <a:xfrm>
            <a:off x="3995737" y="26847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Entendimiento de los Datos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078343-7FA7-F5BD-D324-6BBB70480AB7}"/>
              </a:ext>
            </a:extLst>
          </p:cNvPr>
          <p:cNvSpPr txBox="1"/>
          <p:nvPr/>
        </p:nvSpPr>
        <p:spPr>
          <a:xfrm>
            <a:off x="3990974" y="3308396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Preparación de los Datos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649C27-CE1D-38B3-1E4B-B664BD660F67}"/>
              </a:ext>
            </a:extLst>
          </p:cNvPr>
          <p:cNvSpPr txBox="1"/>
          <p:nvPr/>
        </p:nvSpPr>
        <p:spPr>
          <a:xfrm>
            <a:off x="3990974" y="39772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Modelado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85DBF5-CD3B-1711-BCFB-5A69DE2CD5E7}"/>
              </a:ext>
            </a:extLst>
          </p:cNvPr>
          <p:cNvSpPr txBox="1"/>
          <p:nvPr/>
        </p:nvSpPr>
        <p:spPr>
          <a:xfrm>
            <a:off x="4000500" y="4646088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Evaluación del modelo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82A29A-8C79-C252-C1C8-5433E108EF18}"/>
              </a:ext>
            </a:extLst>
          </p:cNvPr>
          <p:cNvSpPr txBox="1"/>
          <p:nvPr/>
        </p:nvSpPr>
        <p:spPr>
          <a:xfrm>
            <a:off x="3415237" y="5210557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dirty="0">
                <a:solidFill>
                  <a:srgbClr val="13A0D3"/>
                </a:solidFill>
                <a:effectLst/>
                <a:latin typeface="Allianz Neo PPT" panose="020B0604020202020204" charset="0"/>
              </a:rPr>
              <a:t>6</a:t>
            </a:r>
            <a:endParaRPr lang="es-CO" sz="4400" noProof="0" dirty="0"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13CEEC-BD02-0359-71EA-93A49C9B52A1}"/>
              </a:ext>
            </a:extLst>
          </p:cNvPr>
          <p:cNvSpPr txBox="1"/>
          <p:nvPr/>
        </p:nvSpPr>
        <p:spPr>
          <a:xfrm>
            <a:off x="4000500" y="5272465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/>
              <a:t>Próximos pasos</a:t>
            </a:r>
            <a:endParaRPr lang="es-CO" sz="3200" b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263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939F-543F-7AB1-8D1B-01E07752C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474EA5-E774-50FF-7306-4F387989A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 noProof="0" dirty="0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EB01E30-D1B6-FE35-7ECC-83399A95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es-CO" noProof="0" smtClean="0"/>
              <a:pPr/>
              <a:t>3</a:t>
            </a:fld>
            <a:endParaRPr lang="es-CO" noProof="0" dirty="0"/>
          </a:p>
        </p:txBody>
      </p:sp>
      <p:sp>
        <p:nvSpPr>
          <p:cNvPr id="9" name="Titel 7">
            <a:extLst>
              <a:ext uri="{FF2B5EF4-FFF2-40B4-BE49-F238E27FC236}">
                <a16:creationId xmlns:a16="http://schemas.microsoft.com/office/drawing/2014/main" id="{E6713261-3BF2-670E-753F-02382208318E}"/>
              </a:ext>
            </a:extLst>
          </p:cNvPr>
          <p:cNvSpPr txBox="1">
            <a:spLocks/>
          </p:cNvSpPr>
          <p:nvPr/>
        </p:nvSpPr>
        <p:spPr>
          <a:xfrm>
            <a:off x="3995738" y="488637"/>
            <a:ext cx="6840000" cy="676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noProof="0" dirty="0"/>
              <a:t>Agenda / </a:t>
            </a:r>
            <a:r>
              <a:rPr lang="es-CO" noProof="0" dirty="0">
                <a:solidFill>
                  <a:schemeClr val="accent4"/>
                </a:solidFill>
              </a:rPr>
              <a:t>Contenido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D3E0C-D7A7-55E4-0F56-6ECE65498361}"/>
              </a:ext>
            </a:extLst>
          </p:cNvPr>
          <p:cNvSpPr txBox="1"/>
          <p:nvPr/>
        </p:nvSpPr>
        <p:spPr>
          <a:xfrm>
            <a:off x="3422723" y="1914242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kern="1200" noProof="0" dirty="0">
                <a:solidFill>
                  <a:srgbClr val="13A0D3"/>
                </a:solidFill>
                <a:effectLst/>
                <a:latin typeface="Allianz Neo PPT" panose="020B0604020202020204" charset="0"/>
                <a:ea typeface="+mn-ea"/>
                <a:cs typeface="+mn-cs"/>
              </a:rPr>
              <a:t>1</a:t>
            </a:r>
            <a:endParaRPr lang="es-CO" sz="4400" noProof="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09556-199A-DD10-2020-88301CC72D94}"/>
              </a:ext>
            </a:extLst>
          </p:cNvPr>
          <p:cNvSpPr txBox="1"/>
          <p:nvPr/>
        </p:nvSpPr>
        <p:spPr>
          <a:xfrm>
            <a:off x="3995737" y="1976150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Entendimiento del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99BF10-AE22-716E-56E9-C54A1ECFC300}"/>
              </a:ext>
            </a:extLst>
          </p:cNvPr>
          <p:cNvSpPr txBox="1"/>
          <p:nvPr/>
        </p:nvSpPr>
        <p:spPr>
          <a:xfrm>
            <a:off x="3427486" y="256092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2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8FCCD1-473D-9759-A0BF-EBD4D46C8C8A}"/>
              </a:ext>
            </a:extLst>
          </p:cNvPr>
          <p:cNvSpPr txBox="1"/>
          <p:nvPr/>
        </p:nvSpPr>
        <p:spPr>
          <a:xfrm>
            <a:off x="3417960" y="3249211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3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49B3DA-CEA9-DCFA-24C5-49D981086CA4}"/>
              </a:ext>
            </a:extLst>
          </p:cNvPr>
          <p:cNvSpPr txBox="1"/>
          <p:nvPr/>
        </p:nvSpPr>
        <p:spPr>
          <a:xfrm>
            <a:off x="3427486" y="391533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4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6A7F29-E95F-15F4-B7FE-F66691051A3A}"/>
              </a:ext>
            </a:extLst>
          </p:cNvPr>
          <p:cNvSpPr txBox="1"/>
          <p:nvPr/>
        </p:nvSpPr>
        <p:spPr>
          <a:xfrm>
            <a:off x="3417960" y="4584180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5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1E19FA-5193-7348-8C63-2694AE0764F9}"/>
              </a:ext>
            </a:extLst>
          </p:cNvPr>
          <p:cNvSpPr txBox="1"/>
          <p:nvPr/>
        </p:nvSpPr>
        <p:spPr>
          <a:xfrm>
            <a:off x="3995737" y="26847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 los Datos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187CA-0C6B-B62A-DF9F-BDC1818C76F9}"/>
              </a:ext>
            </a:extLst>
          </p:cNvPr>
          <p:cNvSpPr txBox="1"/>
          <p:nvPr/>
        </p:nvSpPr>
        <p:spPr>
          <a:xfrm>
            <a:off x="3990974" y="3308396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Preparación de los Datos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D1CD22-AFEB-83C4-4CD5-2A4499BC2C83}"/>
              </a:ext>
            </a:extLst>
          </p:cNvPr>
          <p:cNvSpPr txBox="1"/>
          <p:nvPr/>
        </p:nvSpPr>
        <p:spPr>
          <a:xfrm>
            <a:off x="3990974" y="39772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Modelado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64C6A3-E5A4-2D05-78E6-BD979FF43DED}"/>
              </a:ext>
            </a:extLst>
          </p:cNvPr>
          <p:cNvSpPr txBox="1"/>
          <p:nvPr/>
        </p:nvSpPr>
        <p:spPr>
          <a:xfrm>
            <a:off x="4000500" y="4646088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Evaluación del modelo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EC6A30-CA61-1476-5751-710D9AD4915A}"/>
              </a:ext>
            </a:extLst>
          </p:cNvPr>
          <p:cNvSpPr txBox="1"/>
          <p:nvPr/>
        </p:nvSpPr>
        <p:spPr>
          <a:xfrm>
            <a:off x="3415237" y="5210557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</a:rPr>
              <a:t>6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D45C5F-29F8-288E-367B-7B12691DE7BC}"/>
              </a:ext>
            </a:extLst>
          </p:cNvPr>
          <p:cNvSpPr txBox="1"/>
          <p:nvPr/>
        </p:nvSpPr>
        <p:spPr>
          <a:xfrm>
            <a:off x="4000500" y="5272465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Próximos pasos</a:t>
            </a:r>
            <a:endParaRPr lang="es-CO" sz="3200" b="1" noProof="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672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9C76-F330-CA17-F6C9-EBF70E8A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B92B9D4-88FC-467D-DD60-8FAB6E21F18B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Entendimiento del Negocio</a:t>
            </a:r>
          </a:p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chemeClr val="bg1"/>
                </a:solidFill>
              </a:rPr>
              <a:t>Objetivo principal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E083B4-3D22-8B8B-1AE4-BA9967427229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37D1483-6C3F-139E-2D3E-C330E9B79DE1}"/>
              </a:ext>
            </a:extLst>
          </p:cNvPr>
          <p:cNvSpPr txBox="1"/>
          <p:nvPr/>
        </p:nvSpPr>
        <p:spPr>
          <a:xfrm>
            <a:off x="2612571" y="2120619"/>
            <a:ext cx="8000656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Desarrollar </a:t>
            </a:r>
            <a:r>
              <a:rPr lang="es-CO" sz="1800" spc="100" dirty="0">
                <a:solidFill>
                  <a:schemeClr val="bg2"/>
                </a:solidFill>
              </a:rPr>
              <a:t>un modelo de </a:t>
            </a:r>
            <a:r>
              <a:rPr lang="es-CO" sz="1800" b="1" spc="100" dirty="0">
                <a:solidFill>
                  <a:schemeClr val="bg2"/>
                </a:solidFill>
              </a:rPr>
              <a:t>Scoring de Riesgo </a:t>
            </a:r>
            <a:r>
              <a:rPr lang="es-CO" sz="1800" spc="100" dirty="0">
                <a:solidFill>
                  <a:schemeClr val="bg2"/>
                </a:solidFill>
              </a:rPr>
              <a:t>que estime la probabilidad de que un asegurado realice un reclamo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264E730-3970-3219-8FFF-BEBB85BBFA3B}"/>
              </a:ext>
            </a:extLst>
          </p:cNvPr>
          <p:cNvSpPr txBox="1"/>
          <p:nvPr/>
        </p:nvSpPr>
        <p:spPr>
          <a:xfrm>
            <a:off x="2612571" y="3262482"/>
            <a:ext cx="8000656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Optimizar tasas </a:t>
            </a:r>
            <a:r>
              <a:rPr lang="es-CO" sz="1800" spc="100" dirty="0">
                <a:solidFill>
                  <a:schemeClr val="bg2"/>
                </a:solidFill>
              </a:rPr>
              <a:t>para cobrar primas más justas basadas en el riesgo real.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026BFA-49AE-3CA9-9714-1FEA4876EA54}"/>
              </a:ext>
            </a:extLst>
          </p:cNvPr>
          <p:cNvSpPr txBox="1"/>
          <p:nvPr/>
        </p:nvSpPr>
        <p:spPr>
          <a:xfrm>
            <a:off x="2612571" y="4404345"/>
            <a:ext cx="691515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Mejorar el perfilamiento </a:t>
            </a:r>
            <a:r>
              <a:rPr lang="es-CO" sz="1800" spc="100" dirty="0">
                <a:solidFill>
                  <a:schemeClr val="bg2"/>
                </a:solidFill>
              </a:rPr>
              <a:t>para</a:t>
            </a:r>
            <a:r>
              <a:rPr lang="es-CO" sz="1800" b="1" spc="100" dirty="0">
                <a:solidFill>
                  <a:schemeClr val="bg2"/>
                </a:solidFill>
              </a:rPr>
              <a:t> Identificar perfiles de alto riesgo </a:t>
            </a:r>
            <a:r>
              <a:rPr lang="es-CO" sz="1800" spc="100" dirty="0">
                <a:solidFill>
                  <a:schemeClr val="bg2"/>
                </a:solidFill>
              </a:rPr>
              <a:t>antes de emitir la póliza.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5316A7E9-905E-CF83-C793-7332FB30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074" y="1905607"/>
            <a:ext cx="984023" cy="98402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8E782F3-926F-F131-4DE6-FB6EAD47E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074" y="3047470"/>
            <a:ext cx="984023" cy="98402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42CFB12-B297-C220-06DD-A6F44590E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074" y="4189333"/>
            <a:ext cx="984023" cy="984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22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9923-D2D3-8565-0F8C-A929898E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69ED69-D6F3-0A76-14F8-E73B0580E4BA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Entendimiento del Negocio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Comportamiento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7CE3F-9A8E-5B3D-F1A2-8675D55912E7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DB7D47-5F90-C41E-6C01-8343A35CD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45" y="1669823"/>
            <a:ext cx="5648325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E54D244-836E-B9E1-D3D6-DBEFF18BC886}"/>
              </a:ext>
            </a:extLst>
          </p:cNvPr>
          <p:cNvSpPr txBox="1"/>
          <p:nvPr/>
        </p:nvSpPr>
        <p:spPr>
          <a:xfrm>
            <a:off x="396195" y="2567442"/>
            <a:ext cx="4629150" cy="2215991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El modelo de negocio presenta una </a:t>
            </a:r>
            <a:r>
              <a:rPr lang="es-CO" sz="1800" b="1" spc="100" dirty="0">
                <a:solidFill>
                  <a:schemeClr val="bg2"/>
                </a:solidFill>
              </a:rPr>
              <a:t>asimetría natural </a:t>
            </a:r>
            <a:r>
              <a:rPr lang="es-CO" sz="1800" spc="100" dirty="0">
                <a:solidFill>
                  <a:schemeClr val="bg2"/>
                </a:solidFill>
              </a:rPr>
              <a:t>(Desbalance de clases), donde los reclamos constituyen eventos de baja frecuencia pero alto impacto, para garantizar la viabilidad financiera y la precisión analítica, es crítico que el modelo </a:t>
            </a:r>
            <a:r>
              <a:rPr lang="es-CO" sz="1800" b="1" spc="100" dirty="0">
                <a:solidFill>
                  <a:schemeClr val="bg2"/>
                </a:solidFill>
              </a:rPr>
              <a:t>replique y prediga esta distribución</a:t>
            </a:r>
            <a:r>
              <a:rPr lang="es-CO" sz="1800" spc="100" dirty="0">
                <a:solidFill>
                  <a:schemeClr val="bg2"/>
                </a:solidFill>
              </a:rPr>
              <a:t> en sus predicciones</a:t>
            </a:r>
          </a:p>
        </p:txBody>
      </p:sp>
    </p:spTree>
    <p:extLst>
      <p:ext uri="{BB962C8B-B14F-4D97-AF65-F5344CB8AC3E}">
        <p14:creationId xmlns:p14="http://schemas.microsoft.com/office/powerpoint/2010/main" val="1423030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8B7A-6AD8-4E29-F3EB-4475EBEEC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927DB3-7701-ED8C-56A7-ACD892056B18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Entendimiento del Negocio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Definición de </a:t>
            </a:r>
            <a:r>
              <a:rPr lang="es-CO" sz="2800" b="1" spc="100" dirty="0" err="1">
                <a:solidFill>
                  <a:schemeClr val="bg1"/>
                </a:solidFill>
              </a:rPr>
              <a:t>KPI’s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A872F0-644D-0FEA-71AE-3D13A342454D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24ED89B4-4FBC-D29B-2ACD-72560E6C2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066749"/>
              </p:ext>
            </p:extLst>
          </p:nvPr>
        </p:nvGraphicFramePr>
        <p:xfrm>
          <a:off x="445296" y="2539228"/>
          <a:ext cx="10629896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29">
                  <a:extLst>
                    <a:ext uri="{9D8B030D-6E8A-4147-A177-3AD203B41FA5}">
                      <a16:colId xmlns:a16="http://schemas.microsoft.com/office/drawing/2014/main" val="408250242"/>
                    </a:ext>
                  </a:extLst>
                </a:gridCol>
                <a:gridCol w="1853293">
                  <a:extLst>
                    <a:ext uri="{9D8B030D-6E8A-4147-A177-3AD203B41FA5}">
                      <a16:colId xmlns:a16="http://schemas.microsoft.com/office/drawing/2014/main" val="4194624018"/>
                    </a:ext>
                  </a:extLst>
                </a:gridCol>
                <a:gridCol w="1730828">
                  <a:extLst>
                    <a:ext uri="{9D8B030D-6E8A-4147-A177-3AD203B41FA5}">
                      <a16:colId xmlns:a16="http://schemas.microsoft.com/office/drawing/2014/main" val="1054005028"/>
                    </a:ext>
                  </a:extLst>
                </a:gridCol>
                <a:gridCol w="5086346">
                  <a:extLst>
                    <a:ext uri="{9D8B030D-6E8A-4147-A177-3AD203B41FA5}">
                      <a16:colId xmlns:a16="http://schemas.microsoft.com/office/drawing/2014/main" val="22299343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Métrica Técnica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>
                          <a:effectLst/>
                        </a:rPr>
                        <a:t>Meta Mínima (MVP)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>
                          <a:effectLst/>
                        </a:rPr>
                        <a:t>Justificación de Negocio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57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Capacidad de Discriminación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>
                          <a:effectLst/>
                          <a:latin typeface="menlo"/>
                        </a:rPr>
                        <a:t>ROC-AUC Score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&gt; 0.65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>
                          <a:effectLst/>
                        </a:rPr>
                        <a:t>Garantiza la fiabilidad aceptable para crear </a:t>
                      </a:r>
                      <a:r>
                        <a:rPr lang="es-CO" sz="1400" i="1">
                          <a:effectLst/>
                        </a:rPr>
                        <a:t>Tiers</a:t>
                      </a:r>
                      <a:r>
                        <a:rPr lang="es-CO" sz="1400">
                          <a:effectLst/>
                        </a:rPr>
                        <a:t> (niveles) de precios diferenciados. Un valor inferior implica un alto riesgo de tarifación errónea (sub-cobro o sobre-cobro).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2951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>
                          <a:effectLst/>
                        </a:rPr>
                        <a:t>Cobertura de Riesgo</a:t>
                      </a:r>
                      <a:endParaRPr lang="es-CO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 err="1">
                          <a:effectLst/>
                          <a:latin typeface="menlo"/>
                        </a:rPr>
                        <a:t>Recall</a:t>
                      </a:r>
                      <a:r>
                        <a:rPr lang="es-CO" sz="1400" dirty="0">
                          <a:effectLst/>
                        </a:rPr>
                        <a:t> (Sensibilidad)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&gt; 60%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>
                          <a:effectLst/>
                        </a:rPr>
                        <a:t>Asegura la detección de la mayoría de los reclamos para ajustar correctamente las reservas técnicas, manteniendo un margen tolerable de Falsos Positivos.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632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>
                          <a:effectLst/>
                        </a:rPr>
                        <a:t>Eficiencia de Captación</a:t>
                      </a:r>
                      <a:endParaRPr lang="es-CO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>
                          <a:effectLst/>
                          <a:latin typeface="menlo"/>
                        </a:rPr>
                        <a:t>Lift @ Top 10%</a:t>
                      </a:r>
                      <a:endParaRPr lang="es-CO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&gt; 2.0x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>
                          <a:effectLst/>
                        </a:rPr>
                        <a:t>Valida el poder predictivo en el segmento crítico: el grupo clasificado como "Más Riesgoso" debe tener una densidad de reclamos 2 veces mayor al promedio de la cartera.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486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7133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549F-8CCE-C9B6-25CB-7EC26597D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571860F-1D03-4508-2843-28DE33B6F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 noProof="0" dirty="0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861099C-7E31-5788-8D1A-C8AACD9F4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es-CO" noProof="0" smtClean="0"/>
              <a:pPr/>
              <a:t>7</a:t>
            </a:fld>
            <a:endParaRPr lang="es-CO" noProof="0" dirty="0"/>
          </a:p>
        </p:txBody>
      </p:sp>
      <p:sp>
        <p:nvSpPr>
          <p:cNvPr id="9" name="Titel 7">
            <a:extLst>
              <a:ext uri="{FF2B5EF4-FFF2-40B4-BE49-F238E27FC236}">
                <a16:creationId xmlns:a16="http://schemas.microsoft.com/office/drawing/2014/main" id="{513750F6-14AE-051D-885D-38237E6E9BE7}"/>
              </a:ext>
            </a:extLst>
          </p:cNvPr>
          <p:cNvSpPr txBox="1">
            <a:spLocks/>
          </p:cNvSpPr>
          <p:nvPr/>
        </p:nvSpPr>
        <p:spPr>
          <a:xfrm>
            <a:off x="3995738" y="488637"/>
            <a:ext cx="6840000" cy="676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noProof="0" dirty="0"/>
              <a:t>Agenda / </a:t>
            </a:r>
            <a:r>
              <a:rPr lang="es-CO" noProof="0" dirty="0">
                <a:solidFill>
                  <a:schemeClr val="accent4"/>
                </a:solidFill>
              </a:rPr>
              <a:t>Contenido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B1AD6B-24AC-47A5-27CC-5982F0B64518}"/>
              </a:ext>
            </a:extLst>
          </p:cNvPr>
          <p:cNvSpPr txBox="1"/>
          <p:nvPr/>
        </p:nvSpPr>
        <p:spPr>
          <a:xfrm>
            <a:off x="3422723" y="1914242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kern="1200" noProof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  <a:ea typeface="+mn-ea"/>
                <a:cs typeface="+mn-cs"/>
              </a:rPr>
              <a:t>1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08807-0E0B-CD3A-39A4-B32448130C3F}"/>
              </a:ext>
            </a:extLst>
          </p:cNvPr>
          <p:cNvSpPr txBox="1"/>
          <p:nvPr/>
        </p:nvSpPr>
        <p:spPr>
          <a:xfrm>
            <a:off x="3995737" y="1976150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del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31EE15-1199-3A10-1AA8-224F3833ABCA}"/>
              </a:ext>
            </a:extLst>
          </p:cNvPr>
          <p:cNvSpPr txBox="1"/>
          <p:nvPr/>
        </p:nvSpPr>
        <p:spPr>
          <a:xfrm>
            <a:off x="3427486" y="256092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2</a:t>
            </a:r>
            <a:endParaRPr lang="es-CO" sz="4400" noProof="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23D4A4-EE57-DDE6-DF78-0238EFB9DA95}"/>
              </a:ext>
            </a:extLst>
          </p:cNvPr>
          <p:cNvSpPr txBox="1"/>
          <p:nvPr/>
        </p:nvSpPr>
        <p:spPr>
          <a:xfrm>
            <a:off x="3417960" y="3249211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3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4F7FAD-41CA-F7B5-3F58-489E6F01C7B2}"/>
              </a:ext>
            </a:extLst>
          </p:cNvPr>
          <p:cNvSpPr txBox="1"/>
          <p:nvPr/>
        </p:nvSpPr>
        <p:spPr>
          <a:xfrm>
            <a:off x="3427486" y="391533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4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4BE471-4EFC-DDFA-9518-9B68135A5B68}"/>
              </a:ext>
            </a:extLst>
          </p:cNvPr>
          <p:cNvSpPr txBox="1"/>
          <p:nvPr/>
        </p:nvSpPr>
        <p:spPr>
          <a:xfrm>
            <a:off x="3417960" y="4584180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5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EC6D3E-E207-8C96-8F12-4DDB4EC63B7B}"/>
              </a:ext>
            </a:extLst>
          </p:cNvPr>
          <p:cNvSpPr txBox="1"/>
          <p:nvPr/>
        </p:nvSpPr>
        <p:spPr>
          <a:xfrm>
            <a:off x="3995737" y="26847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Entendimiento de los Datos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492475-B9FE-4D94-9C26-FB12D70F6D37}"/>
              </a:ext>
            </a:extLst>
          </p:cNvPr>
          <p:cNvSpPr txBox="1"/>
          <p:nvPr/>
        </p:nvSpPr>
        <p:spPr>
          <a:xfrm>
            <a:off x="3990974" y="3308396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Preparación de los Datos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675182-367D-84ED-F9C0-8D7A3F706AE2}"/>
              </a:ext>
            </a:extLst>
          </p:cNvPr>
          <p:cNvSpPr txBox="1"/>
          <p:nvPr/>
        </p:nvSpPr>
        <p:spPr>
          <a:xfrm>
            <a:off x="3990974" y="39772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Modelado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0B28B8-6E06-DC53-79F4-D0E8D6AFB1F9}"/>
              </a:ext>
            </a:extLst>
          </p:cNvPr>
          <p:cNvSpPr txBox="1"/>
          <p:nvPr/>
        </p:nvSpPr>
        <p:spPr>
          <a:xfrm>
            <a:off x="4000500" y="4646088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Evaluación del modelo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0DE6EC-E580-66C9-7C21-3129B3FB9693}"/>
              </a:ext>
            </a:extLst>
          </p:cNvPr>
          <p:cNvSpPr txBox="1"/>
          <p:nvPr/>
        </p:nvSpPr>
        <p:spPr>
          <a:xfrm>
            <a:off x="3415237" y="5210557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</a:rPr>
              <a:t>6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A03151-1659-79A2-35D0-E6B1842E4A7A}"/>
              </a:ext>
            </a:extLst>
          </p:cNvPr>
          <p:cNvSpPr txBox="1"/>
          <p:nvPr/>
        </p:nvSpPr>
        <p:spPr>
          <a:xfrm>
            <a:off x="4000500" y="5272465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Próximos pasos</a:t>
            </a:r>
            <a:endParaRPr lang="es-CO" sz="3200" b="1" noProof="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427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A68A-179F-9E50-803D-FE8ECF9B1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D7C1A2-B788-6127-279C-662DD2D4E713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Entendimiento de los Datos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Estrategia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66FF54-4D38-56DF-74CC-978B250E0E41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4F8DB19-2CB5-B4E4-797D-1B8EDCB6D57A}"/>
              </a:ext>
            </a:extLst>
          </p:cNvPr>
          <p:cNvSpPr txBox="1"/>
          <p:nvPr/>
        </p:nvSpPr>
        <p:spPr>
          <a:xfrm>
            <a:off x="2612571" y="1617685"/>
            <a:ext cx="8000656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Auditoría Técnica: </a:t>
            </a:r>
            <a:r>
              <a:rPr lang="es-CO" sz="1800" spc="100" dirty="0">
                <a:solidFill>
                  <a:schemeClr val="bg2"/>
                </a:solidFill>
              </a:rPr>
              <a:t>Realizaremos un diagnóstico inicial para identificar valores nulos, inconsistencias en tipos de datos (ej. variables numéricas codificadas como texto) y cardinalidad.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95AD5D2-7D15-9778-6FC3-36500EED2020}"/>
              </a:ext>
            </a:extLst>
          </p:cNvPr>
          <p:cNvSpPr txBox="1"/>
          <p:nvPr/>
        </p:nvSpPr>
        <p:spPr>
          <a:xfrm>
            <a:off x="2612571" y="2714811"/>
            <a:ext cx="8000656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Saneamiento Estructural: </a:t>
            </a:r>
            <a:r>
              <a:rPr lang="es-CO" sz="1800" spc="100" dirty="0">
                <a:solidFill>
                  <a:schemeClr val="bg2"/>
                </a:solidFill>
              </a:rPr>
              <a:t>Antes de cualquier análisis, corregiremos los formatos de las variables para hacerlas legibles por el sistema.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B449B1C-941F-E26E-96CB-992556D4F184}"/>
              </a:ext>
            </a:extLst>
          </p:cNvPr>
          <p:cNvSpPr txBox="1"/>
          <p:nvPr/>
        </p:nvSpPr>
        <p:spPr>
          <a:xfrm>
            <a:off x="2612571" y="3534938"/>
            <a:ext cx="6915150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Estrategia de Particionamiento: </a:t>
            </a:r>
            <a:r>
              <a:rPr lang="es-CO" sz="1800" spc="100" dirty="0">
                <a:solidFill>
                  <a:schemeClr val="bg2"/>
                </a:solidFill>
              </a:rPr>
              <a:t>División de los datos en conjuntos de Entrenamiento siguiendo una validación cruzada estratificada y conjunto de Prueba.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D4257C-AC43-A130-F2D4-C0D0B53588A6}"/>
              </a:ext>
            </a:extLst>
          </p:cNvPr>
          <p:cNvSpPr txBox="1"/>
          <p:nvPr/>
        </p:nvSpPr>
        <p:spPr>
          <a:xfrm>
            <a:off x="2612571" y="4632064"/>
            <a:ext cx="6915150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Análisis Exploratorio Profundo: </a:t>
            </a:r>
            <a:r>
              <a:rPr lang="es-CO" sz="1800" spc="100" dirty="0">
                <a:solidFill>
                  <a:schemeClr val="bg2"/>
                </a:solidFill>
              </a:rPr>
              <a:t>Buscar patrones, correlaciones y drivers de riesgo que expliquen el comportamiento de los reclamos.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09AA748-5F76-84A7-B8C8-B5247873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5" y="1588705"/>
            <a:ext cx="859977" cy="85997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324F2AB-8169-FFF6-8235-79C91C902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6" y="2561821"/>
            <a:ext cx="859977" cy="859977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20217AE-084D-8F5E-61A7-490BAB960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683" y="3591506"/>
            <a:ext cx="859977" cy="85997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B86405B-E357-1ED9-B7D2-5BAB63468A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684" y="4621192"/>
            <a:ext cx="859977" cy="85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894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71558-5BD7-7A37-7519-754DC56C7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C8F547F-08CD-5A40-F964-1EEB16E76640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Entendimiento de los Datos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Datos relevantes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536001-F800-D1EA-70FD-4B6E17E5012A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89BB37-A404-FDDC-6A91-DF2A44DD0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86" y="2608426"/>
            <a:ext cx="10248012" cy="287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FB6EC81-6F97-1D49-6D83-78BFFEECAFAE}"/>
              </a:ext>
            </a:extLst>
          </p:cNvPr>
          <p:cNvSpPr txBox="1"/>
          <p:nvPr/>
        </p:nvSpPr>
        <p:spPr>
          <a:xfrm>
            <a:off x="922564" y="1399949"/>
            <a:ext cx="9258299" cy="86177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2800" spc="100" dirty="0">
                <a:solidFill>
                  <a:schemeClr val="bg2"/>
                </a:solidFill>
              </a:rPr>
              <a:t>A </a:t>
            </a:r>
            <a:r>
              <a:rPr lang="es-CO" sz="2800" b="1" spc="100" dirty="0">
                <a:solidFill>
                  <a:schemeClr val="bg2"/>
                </a:solidFill>
              </a:rPr>
              <a:t>mayor antigüedad </a:t>
            </a:r>
            <a:r>
              <a:rPr lang="es-CO" sz="2800" spc="100" dirty="0">
                <a:solidFill>
                  <a:schemeClr val="bg2"/>
                </a:solidFill>
              </a:rPr>
              <a:t>de la póliza es más probable a que realice un </a:t>
            </a:r>
            <a:r>
              <a:rPr lang="es-CO" sz="2800" b="1" spc="100" dirty="0">
                <a:solidFill>
                  <a:schemeClr val="bg2"/>
                </a:solidFill>
              </a:rPr>
              <a:t>reclamo</a:t>
            </a:r>
            <a:r>
              <a:rPr lang="es-CO" sz="2800" spc="100" dirty="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7401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3387A-28B4-7A6D-1794-D80734DD6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29E7B1E-C211-E33D-5CFB-08562D3C1D18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Entendimiento de los Datos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Datos relevantes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D5F88F-FD83-A8CC-B058-A5277A60AA01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B11B02D9-7602-0904-9217-FCA90AF1345F}"/>
              </a:ext>
            </a:extLst>
          </p:cNvPr>
          <p:cNvSpPr txBox="1"/>
          <p:nvPr/>
        </p:nvSpPr>
        <p:spPr>
          <a:xfrm>
            <a:off x="783773" y="1726520"/>
            <a:ext cx="3935184" cy="123110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2000" spc="100" dirty="0">
                <a:solidFill>
                  <a:schemeClr val="bg2"/>
                </a:solidFill>
              </a:rPr>
              <a:t>Cuando se tiene </a:t>
            </a:r>
            <a:r>
              <a:rPr lang="es-CO" sz="2000" b="1" spc="100" dirty="0">
                <a:solidFill>
                  <a:schemeClr val="bg2"/>
                </a:solidFill>
              </a:rPr>
              <a:t>equipamiento</a:t>
            </a:r>
            <a:r>
              <a:rPr lang="es-CO" sz="2000" spc="100" dirty="0">
                <a:solidFill>
                  <a:schemeClr val="bg2"/>
                </a:solidFill>
              </a:rPr>
              <a:t> es mas probable que realice un reclamo, sobre todo en zonas de choque (ej. Exploradoras)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A229976-EB94-3B92-9021-63339539C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579" y="1273630"/>
            <a:ext cx="5787028" cy="4904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372D14D-D9CF-086D-02CA-F87D49F57E1F}"/>
              </a:ext>
            </a:extLst>
          </p:cNvPr>
          <p:cNvSpPr txBox="1"/>
          <p:nvPr/>
        </p:nvSpPr>
        <p:spPr>
          <a:xfrm>
            <a:off x="783773" y="3522549"/>
            <a:ext cx="3935184" cy="1538883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2000" spc="100" dirty="0">
                <a:solidFill>
                  <a:schemeClr val="bg2"/>
                </a:solidFill>
              </a:rPr>
              <a:t>Esto puede ser explicado por la </a:t>
            </a:r>
            <a:r>
              <a:rPr lang="es-CO" sz="2000" b="1" spc="100" dirty="0">
                <a:solidFill>
                  <a:schemeClr val="bg2"/>
                </a:solidFill>
              </a:rPr>
              <a:t>gama de valor del carro </a:t>
            </a:r>
            <a:r>
              <a:rPr lang="es-CO" sz="2000" spc="100" dirty="0">
                <a:solidFill>
                  <a:schemeClr val="bg2"/>
                </a:solidFill>
              </a:rPr>
              <a:t>y por lo tanto el precio del arreglo (un conductor usaría la póliza para evitar gastos altos)</a:t>
            </a:r>
          </a:p>
        </p:txBody>
      </p:sp>
    </p:spTree>
    <p:extLst>
      <p:ext uri="{BB962C8B-B14F-4D97-AF65-F5344CB8AC3E}">
        <p14:creationId xmlns:p14="http://schemas.microsoft.com/office/powerpoint/2010/main" val="1867773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DF75-C613-544D-F004-3636BE782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6B377C3-ADE8-9FD4-A089-51BDB719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 noProof="0" dirty="0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E06BA1-E254-A46D-44B9-CD68F0EF6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es-CO" noProof="0" smtClean="0"/>
              <a:pPr/>
              <a:t>11</a:t>
            </a:fld>
            <a:endParaRPr lang="es-CO" noProof="0" dirty="0"/>
          </a:p>
        </p:txBody>
      </p:sp>
      <p:sp>
        <p:nvSpPr>
          <p:cNvPr id="9" name="Titel 7">
            <a:extLst>
              <a:ext uri="{FF2B5EF4-FFF2-40B4-BE49-F238E27FC236}">
                <a16:creationId xmlns:a16="http://schemas.microsoft.com/office/drawing/2014/main" id="{089B12E3-E3B6-385B-68E4-4319E1AA904C}"/>
              </a:ext>
            </a:extLst>
          </p:cNvPr>
          <p:cNvSpPr txBox="1">
            <a:spLocks/>
          </p:cNvSpPr>
          <p:nvPr/>
        </p:nvSpPr>
        <p:spPr>
          <a:xfrm>
            <a:off x="3995738" y="488637"/>
            <a:ext cx="6840000" cy="676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noProof="0" dirty="0"/>
              <a:t>Agenda / </a:t>
            </a:r>
            <a:r>
              <a:rPr lang="es-CO" noProof="0" dirty="0">
                <a:solidFill>
                  <a:schemeClr val="accent4"/>
                </a:solidFill>
              </a:rPr>
              <a:t>Contenido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B6EBC7-515F-83EC-993A-089A761593BB}"/>
              </a:ext>
            </a:extLst>
          </p:cNvPr>
          <p:cNvSpPr txBox="1"/>
          <p:nvPr/>
        </p:nvSpPr>
        <p:spPr>
          <a:xfrm>
            <a:off x="3422723" y="1914242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kern="1200" noProof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  <a:ea typeface="+mn-ea"/>
                <a:cs typeface="+mn-cs"/>
              </a:rPr>
              <a:t>1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00AC0-0F09-AE9D-ECDB-4E3848AA322F}"/>
              </a:ext>
            </a:extLst>
          </p:cNvPr>
          <p:cNvSpPr txBox="1"/>
          <p:nvPr/>
        </p:nvSpPr>
        <p:spPr>
          <a:xfrm>
            <a:off x="3995737" y="1976150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del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33F82-334C-36E6-D13E-93190D66B3DB}"/>
              </a:ext>
            </a:extLst>
          </p:cNvPr>
          <p:cNvSpPr txBox="1"/>
          <p:nvPr/>
        </p:nvSpPr>
        <p:spPr>
          <a:xfrm>
            <a:off x="3427486" y="256092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2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C9D66-9632-1F26-F0FB-DA1376FEE353}"/>
              </a:ext>
            </a:extLst>
          </p:cNvPr>
          <p:cNvSpPr txBox="1"/>
          <p:nvPr/>
        </p:nvSpPr>
        <p:spPr>
          <a:xfrm>
            <a:off x="3417960" y="3249211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3</a:t>
            </a:r>
            <a:endParaRPr lang="es-CO" sz="4400" noProof="0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815122-3AF9-F929-28E1-0F09ACC35930}"/>
              </a:ext>
            </a:extLst>
          </p:cNvPr>
          <p:cNvSpPr txBox="1"/>
          <p:nvPr/>
        </p:nvSpPr>
        <p:spPr>
          <a:xfrm>
            <a:off x="3427486" y="391533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4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35256B-9892-1484-E76F-B7077CD48C03}"/>
              </a:ext>
            </a:extLst>
          </p:cNvPr>
          <p:cNvSpPr txBox="1"/>
          <p:nvPr/>
        </p:nvSpPr>
        <p:spPr>
          <a:xfrm>
            <a:off x="3417960" y="4584180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5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67F905-918B-DFBE-51BD-4ACCCDB6FB43}"/>
              </a:ext>
            </a:extLst>
          </p:cNvPr>
          <p:cNvSpPr txBox="1"/>
          <p:nvPr/>
        </p:nvSpPr>
        <p:spPr>
          <a:xfrm>
            <a:off x="3995737" y="26847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 los Datos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81FF53-80DB-C4D3-2918-C237CB5C21B8}"/>
              </a:ext>
            </a:extLst>
          </p:cNvPr>
          <p:cNvSpPr txBox="1"/>
          <p:nvPr/>
        </p:nvSpPr>
        <p:spPr>
          <a:xfrm>
            <a:off x="3990974" y="3308396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Preparación de los Datos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815092-936B-8BF2-B5F5-2BCD038E0BE1}"/>
              </a:ext>
            </a:extLst>
          </p:cNvPr>
          <p:cNvSpPr txBox="1"/>
          <p:nvPr/>
        </p:nvSpPr>
        <p:spPr>
          <a:xfrm>
            <a:off x="3990974" y="39772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Modelado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7859A6-0271-14B0-2AF8-8EEC8D59C441}"/>
              </a:ext>
            </a:extLst>
          </p:cNvPr>
          <p:cNvSpPr txBox="1"/>
          <p:nvPr/>
        </p:nvSpPr>
        <p:spPr>
          <a:xfrm>
            <a:off x="4000500" y="4646088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Evaluación del modelo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0503C-CDAE-DD47-8C3C-3BEEF4DC2218}"/>
              </a:ext>
            </a:extLst>
          </p:cNvPr>
          <p:cNvSpPr txBox="1"/>
          <p:nvPr/>
        </p:nvSpPr>
        <p:spPr>
          <a:xfrm>
            <a:off x="3415237" y="5210557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</a:rPr>
              <a:t>6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C1D36C-BCCE-16FB-8B86-E4A708F27900}"/>
              </a:ext>
            </a:extLst>
          </p:cNvPr>
          <p:cNvSpPr txBox="1"/>
          <p:nvPr/>
        </p:nvSpPr>
        <p:spPr>
          <a:xfrm>
            <a:off x="4000500" y="5272465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Próximos pasos</a:t>
            </a:r>
            <a:endParaRPr lang="es-CO" sz="3200" b="1" noProof="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849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E66E-A333-C395-8B9E-A864378A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E8EEE7-952E-7FB4-066B-CFD7F59C8A1E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rgbClr val="13A0D3"/>
                </a:solidFill>
              </a:rPr>
              <a:t>Preparación</a:t>
            </a:r>
            <a:r>
              <a:rPr lang="es-CO" sz="2800" b="1" spc="100" noProof="0" dirty="0">
                <a:solidFill>
                  <a:srgbClr val="13A0D3"/>
                </a:solidFill>
              </a:rPr>
              <a:t> de los Datos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Estrategia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4821D85-B6B0-8D88-D7B2-EA60F8C89BAA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D25C1E2-030B-78A6-6159-97EEFFB75F1B}"/>
              </a:ext>
            </a:extLst>
          </p:cNvPr>
          <p:cNvSpPr txBox="1"/>
          <p:nvPr/>
        </p:nvSpPr>
        <p:spPr>
          <a:xfrm>
            <a:off x="2612571" y="1880193"/>
            <a:ext cx="8000656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Reducción de </a:t>
            </a:r>
            <a:r>
              <a:rPr lang="es-CO" sz="1800" b="1" spc="100" dirty="0">
                <a:solidFill>
                  <a:schemeClr val="bg2"/>
                </a:solidFill>
              </a:rPr>
              <a:t>Redundancia</a:t>
            </a:r>
            <a:endParaRPr lang="es-CO" sz="1800" spc="100" dirty="0">
              <a:solidFill>
                <a:schemeClr val="bg2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9BFFDB-9D60-14E6-FE2C-2EEB5C8F5F8D}"/>
              </a:ext>
            </a:extLst>
          </p:cNvPr>
          <p:cNvSpPr txBox="1"/>
          <p:nvPr/>
        </p:nvSpPr>
        <p:spPr>
          <a:xfrm>
            <a:off x="2612571" y="3887255"/>
            <a:ext cx="8000656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Escalado </a:t>
            </a:r>
            <a:r>
              <a:rPr lang="es-CO" sz="1800" spc="100" dirty="0">
                <a:solidFill>
                  <a:schemeClr val="bg2"/>
                </a:solidFill>
              </a:rPr>
              <a:t>para evitar darle un peso mayor a alguna característica</a:t>
            </a:r>
            <a:r>
              <a:rPr lang="es-CO" sz="1800" b="1" spc="100" dirty="0">
                <a:solidFill>
                  <a:schemeClr val="bg2"/>
                </a:solidFill>
              </a:rPr>
              <a:t>.</a:t>
            </a:r>
            <a:endParaRPr lang="es-CO" sz="1800" spc="100" dirty="0">
              <a:solidFill>
                <a:schemeClr val="bg2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9DF2C7C-7EF4-89F7-31CD-215F66F75E45}"/>
              </a:ext>
            </a:extLst>
          </p:cNvPr>
          <p:cNvSpPr txBox="1"/>
          <p:nvPr/>
        </p:nvSpPr>
        <p:spPr>
          <a:xfrm>
            <a:off x="2612571" y="2606725"/>
            <a:ext cx="6915150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Selección Estadística de Características aplicando pruebas estadísticas de dependencia no lineal </a:t>
            </a:r>
            <a:r>
              <a:rPr lang="es-CO" sz="1800" b="1" spc="100" dirty="0">
                <a:solidFill>
                  <a:schemeClr val="bg2"/>
                </a:solidFill>
              </a:rPr>
              <a:t>(Mutual </a:t>
            </a:r>
            <a:r>
              <a:rPr lang="es-CO" sz="1800" b="1" spc="100" dirty="0" err="1">
                <a:solidFill>
                  <a:schemeClr val="bg2"/>
                </a:solidFill>
              </a:rPr>
              <a:t>Information</a:t>
            </a:r>
            <a:r>
              <a:rPr lang="es-CO" sz="1800" b="1" spc="100" dirty="0">
                <a:solidFill>
                  <a:schemeClr val="bg2"/>
                </a:solidFill>
              </a:rPr>
              <a:t> </a:t>
            </a:r>
            <a:r>
              <a:rPr lang="es-CO" sz="1800" b="1" spc="100" dirty="0" err="1">
                <a:solidFill>
                  <a:schemeClr val="bg2"/>
                </a:solidFill>
              </a:rPr>
              <a:t>Classification</a:t>
            </a:r>
            <a:r>
              <a:rPr lang="es-CO" sz="1800" b="1" spc="100" dirty="0">
                <a:solidFill>
                  <a:schemeClr val="bg2"/>
                </a:solidFill>
              </a:rPr>
              <a:t>)</a:t>
            </a:r>
            <a:endParaRPr lang="es-CO" sz="1800" spc="100" dirty="0">
              <a:solidFill>
                <a:schemeClr val="bg2"/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FF0E47-2560-45C9-74C5-F88BC82DCE8E}"/>
              </a:ext>
            </a:extLst>
          </p:cNvPr>
          <p:cNvSpPr txBox="1"/>
          <p:nvPr/>
        </p:nvSpPr>
        <p:spPr>
          <a:xfrm>
            <a:off x="2612571" y="4721871"/>
            <a:ext cx="6915150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Transformación de variables categóricas a numéricas. Se hará uso de  </a:t>
            </a:r>
            <a:r>
              <a:rPr lang="es-CO" sz="1800" b="1" spc="100" dirty="0" err="1">
                <a:solidFill>
                  <a:schemeClr val="bg2"/>
                </a:solidFill>
              </a:rPr>
              <a:t>One</a:t>
            </a:r>
            <a:r>
              <a:rPr lang="es-CO" sz="1800" b="1" spc="100" dirty="0">
                <a:solidFill>
                  <a:schemeClr val="bg2"/>
                </a:solidFill>
              </a:rPr>
              <a:t>-Hot </a:t>
            </a:r>
            <a:r>
              <a:rPr lang="es-CO" sz="1800" b="1" spc="100" dirty="0" err="1">
                <a:solidFill>
                  <a:schemeClr val="bg2"/>
                </a:solidFill>
              </a:rPr>
              <a:t>Encoding</a:t>
            </a:r>
            <a:r>
              <a:rPr lang="es-CO" sz="1800" b="1" spc="100" dirty="0">
                <a:solidFill>
                  <a:schemeClr val="bg2"/>
                </a:solidFill>
              </a:rPr>
              <a:t> </a:t>
            </a:r>
            <a:r>
              <a:rPr lang="es-CO" sz="1800" spc="100" dirty="0">
                <a:solidFill>
                  <a:schemeClr val="bg2"/>
                </a:solidFill>
              </a:rPr>
              <a:t>(nominales) </a:t>
            </a:r>
            <a:r>
              <a:rPr lang="es-CO" sz="1800" b="1" spc="100" dirty="0">
                <a:solidFill>
                  <a:schemeClr val="bg2"/>
                </a:solidFill>
              </a:rPr>
              <a:t>y </a:t>
            </a:r>
            <a:r>
              <a:rPr lang="es-CO" sz="1800" b="1" spc="100" dirty="0" err="1">
                <a:solidFill>
                  <a:schemeClr val="bg2"/>
                </a:solidFill>
              </a:rPr>
              <a:t>Order</a:t>
            </a:r>
            <a:r>
              <a:rPr lang="es-CO" sz="1800" b="1" spc="100" dirty="0">
                <a:solidFill>
                  <a:schemeClr val="bg2"/>
                </a:solidFill>
              </a:rPr>
              <a:t> </a:t>
            </a:r>
            <a:r>
              <a:rPr lang="es-CO" sz="1800" b="1" spc="100" dirty="0" err="1">
                <a:solidFill>
                  <a:schemeClr val="bg2"/>
                </a:solidFill>
              </a:rPr>
              <a:t>Encoding</a:t>
            </a:r>
            <a:r>
              <a:rPr lang="es-CO" sz="1800" b="1" spc="100" dirty="0">
                <a:solidFill>
                  <a:schemeClr val="bg2"/>
                </a:solidFill>
              </a:rPr>
              <a:t> </a:t>
            </a:r>
            <a:r>
              <a:rPr lang="es-CO" sz="1800" spc="100" dirty="0">
                <a:solidFill>
                  <a:schemeClr val="bg2"/>
                </a:solidFill>
              </a:rPr>
              <a:t>(jerarquía).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ED518E-2B2B-91A3-AE6A-86189E7C4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683" y="1585808"/>
            <a:ext cx="859977" cy="85997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700F495-3856-9895-2794-4C6E6C1EC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682" y="2561820"/>
            <a:ext cx="859977" cy="85997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E828DB8-EE71-8BB9-6508-BF363B8D8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682" y="3645180"/>
            <a:ext cx="859976" cy="85997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ABFB15E7-EE21-410B-A2A5-7DFFA1439B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681" y="4758202"/>
            <a:ext cx="859977" cy="85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812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4609B-A21D-A178-3D1D-A2F970BF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B410B0A-7BED-18C2-37AB-E50A2E83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 noProof="0" dirty="0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35DF3E-C57C-03AE-4D0A-5E68C175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es-CO" noProof="0" smtClean="0"/>
              <a:pPr/>
              <a:t>13</a:t>
            </a:fld>
            <a:endParaRPr lang="es-CO" noProof="0" dirty="0"/>
          </a:p>
        </p:txBody>
      </p:sp>
      <p:sp>
        <p:nvSpPr>
          <p:cNvPr id="9" name="Titel 7">
            <a:extLst>
              <a:ext uri="{FF2B5EF4-FFF2-40B4-BE49-F238E27FC236}">
                <a16:creationId xmlns:a16="http://schemas.microsoft.com/office/drawing/2014/main" id="{F099A776-9F87-EC96-572B-8516B7E5660B}"/>
              </a:ext>
            </a:extLst>
          </p:cNvPr>
          <p:cNvSpPr txBox="1">
            <a:spLocks/>
          </p:cNvSpPr>
          <p:nvPr/>
        </p:nvSpPr>
        <p:spPr>
          <a:xfrm>
            <a:off x="3995738" y="488637"/>
            <a:ext cx="6840000" cy="676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noProof="0" dirty="0"/>
              <a:t>Agenda / </a:t>
            </a:r>
            <a:r>
              <a:rPr lang="es-CO" noProof="0" dirty="0">
                <a:solidFill>
                  <a:schemeClr val="accent4"/>
                </a:solidFill>
              </a:rPr>
              <a:t>Contenido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FE4B15-EC5F-E724-22CC-A37BD9D52A45}"/>
              </a:ext>
            </a:extLst>
          </p:cNvPr>
          <p:cNvSpPr txBox="1"/>
          <p:nvPr/>
        </p:nvSpPr>
        <p:spPr>
          <a:xfrm>
            <a:off x="3422723" y="1914242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kern="1200" noProof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  <a:ea typeface="+mn-ea"/>
                <a:cs typeface="+mn-cs"/>
              </a:rPr>
              <a:t>1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C560C-91B1-FF00-AB33-754B06FB3A8C}"/>
              </a:ext>
            </a:extLst>
          </p:cNvPr>
          <p:cNvSpPr txBox="1"/>
          <p:nvPr/>
        </p:nvSpPr>
        <p:spPr>
          <a:xfrm>
            <a:off x="3995737" y="1976150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del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21FA80-1FB5-6A1F-E54D-71422A0AF711}"/>
              </a:ext>
            </a:extLst>
          </p:cNvPr>
          <p:cNvSpPr txBox="1"/>
          <p:nvPr/>
        </p:nvSpPr>
        <p:spPr>
          <a:xfrm>
            <a:off x="3427486" y="256092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2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F20CD-6423-8DAE-13B1-ACB492AEC91A}"/>
              </a:ext>
            </a:extLst>
          </p:cNvPr>
          <p:cNvSpPr txBox="1"/>
          <p:nvPr/>
        </p:nvSpPr>
        <p:spPr>
          <a:xfrm>
            <a:off x="3417960" y="3249211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3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9D3D8A-EA54-E842-88E4-65A30A0897E8}"/>
              </a:ext>
            </a:extLst>
          </p:cNvPr>
          <p:cNvSpPr txBox="1"/>
          <p:nvPr/>
        </p:nvSpPr>
        <p:spPr>
          <a:xfrm>
            <a:off x="3427486" y="391533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4</a:t>
            </a:r>
            <a:endParaRPr lang="es-CO" sz="4400" noProof="0" dirty="0"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9EF788-4B6E-1CE0-D478-63C25969813A}"/>
              </a:ext>
            </a:extLst>
          </p:cNvPr>
          <p:cNvSpPr txBox="1"/>
          <p:nvPr/>
        </p:nvSpPr>
        <p:spPr>
          <a:xfrm>
            <a:off x="3417960" y="4584180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5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57AEC5-2EB6-58A8-4367-96316B08AEC7}"/>
              </a:ext>
            </a:extLst>
          </p:cNvPr>
          <p:cNvSpPr txBox="1"/>
          <p:nvPr/>
        </p:nvSpPr>
        <p:spPr>
          <a:xfrm>
            <a:off x="3995737" y="26847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 los Datos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BDD1E6-6447-5C52-B453-3C18D503D482}"/>
              </a:ext>
            </a:extLst>
          </p:cNvPr>
          <p:cNvSpPr txBox="1"/>
          <p:nvPr/>
        </p:nvSpPr>
        <p:spPr>
          <a:xfrm>
            <a:off x="3990974" y="3308396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Preparación de los Datos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881FBF-134F-1438-BD64-467357739264}"/>
              </a:ext>
            </a:extLst>
          </p:cNvPr>
          <p:cNvSpPr txBox="1"/>
          <p:nvPr/>
        </p:nvSpPr>
        <p:spPr>
          <a:xfrm>
            <a:off x="3990974" y="39772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Modelado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4CEC85-1D83-98AE-388B-A0806482F26A}"/>
              </a:ext>
            </a:extLst>
          </p:cNvPr>
          <p:cNvSpPr txBox="1"/>
          <p:nvPr/>
        </p:nvSpPr>
        <p:spPr>
          <a:xfrm>
            <a:off x="4000500" y="4646088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Evaluación del modelo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1A9DA2-5174-9BDE-0D54-9066B048372F}"/>
              </a:ext>
            </a:extLst>
          </p:cNvPr>
          <p:cNvSpPr txBox="1"/>
          <p:nvPr/>
        </p:nvSpPr>
        <p:spPr>
          <a:xfrm>
            <a:off x="3415237" y="5210557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</a:rPr>
              <a:t>6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FCEF10-8C93-2462-40E0-346400B8961F}"/>
              </a:ext>
            </a:extLst>
          </p:cNvPr>
          <p:cNvSpPr txBox="1"/>
          <p:nvPr/>
        </p:nvSpPr>
        <p:spPr>
          <a:xfrm>
            <a:off x="4000500" y="5272465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Próximos pasos</a:t>
            </a:r>
            <a:endParaRPr lang="es-CO" sz="3200" b="1" noProof="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535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A3D35-AAFC-AC42-8704-D6DC3013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92747D8-A7AC-6D25-ED6B-81FF296D79DA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Modelado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Estrategia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737518-D85E-A605-0308-D2DD36AFD039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8E86BB9-2F1A-E0F9-C6B1-0DBFE54D8B9D}"/>
              </a:ext>
            </a:extLst>
          </p:cNvPr>
          <p:cNvSpPr txBox="1"/>
          <p:nvPr/>
        </p:nvSpPr>
        <p:spPr>
          <a:xfrm>
            <a:off x="2612571" y="1904717"/>
            <a:ext cx="8000656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Entrenar 3 modelos </a:t>
            </a:r>
            <a:r>
              <a:rPr lang="es-CO" sz="1800" b="1" spc="100" dirty="0">
                <a:solidFill>
                  <a:schemeClr val="bg2"/>
                </a:solidFill>
              </a:rPr>
              <a:t>(</a:t>
            </a:r>
            <a:r>
              <a:rPr lang="es-CO" sz="1800" b="1" spc="100" dirty="0" err="1">
                <a:solidFill>
                  <a:schemeClr val="bg2"/>
                </a:solidFill>
              </a:rPr>
              <a:t>Random</a:t>
            </a:r>
            <a:r>
              <a:rPr lang="es-CO" sz="1800" b="1" spc="100" dirty="0">
                <a:solidFill>
                  <a:schemeClr val="bg2"/>
                </a:solidFill>
              </a:rPr>
              <a:t> Forest, </a:t>
            </a:r>
            <a:r>
              <a:rPr lang="es-CO" sz="1800" b="1" spc="100" dirty="0" err="1">
                <a:solidFill>
                  <a:schemeClr val="bg2"/>
                </a:solidFill>
              </a:rPr>
              <a:t>XGBoost</a:t>
            </a:r>
            <a:r>
              <a:rPr lang="es-CO" sz="1800" b="1" spc="100" dirty="0">
                <a:solidFill>
                  <a:schemeClr val="bg2"/>
                </a:solidFill>
              </a:rPr>
              <a:t>, </a:t>
            </a:r>
            <a:r>
              <a:rPr lang="es-CO" sz="1800" b="1" spc="100" dirty="0" err="1">
                <a:solidFill>
                  <a:schemeClr val="bg2"/>
                </a:solidFill>
              </a:rPr>
              <a:t>LightGBM</a:t>
            </a:r>
            <a:r>
              <a:rPr lang="es-CO" sz="1800" b="1" spc="100" dirty="0">
                <a:solidFill>
                  <a:schemeClr val="bg2"/>
                </a:solidFill>
              </a:rPr>
              <a:t>) </a:t>
            </a:r>
            <a:r>
              <a:rPr lang="es-CO" sz="1800" spc="100" dirty="0">
                <a:solidFill>
                  <a:schemeClr val="bg2"/>
                </a:solidFill>
              </a:rPr>
              <a:t>siguiendo la validación cruzada, escogiendo el mejor en cuanto al compendio de las 3 métricas objetivo.</a:t>
            </a:r>
            <a:endParaRPr lang="es-CO" sz="1800" b="1" spc="100" dirty="0">
              <a:solidFill>
                <a:schemeClr val="bg2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663EC10-1881-BCEA-BA1D-AD36B3CFCFC9}"/>
              </a:ext>
            </a:extLst>
          </p:cNvPr>
          <p:cNvSpPr txBox="1"/>
          <p:nvPr/>
        </p:nvSpPr>
        <p:spPr>
          <a:xfrm>
            <a:off x="2612571" y="4200300"/>
            <a:ext cx="8000656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Entrenamiento total con los mejores </a:t>
            </a:r>
            <a:r>
              <a:rPr lang="es-CO" sz="1800" b="1" spc="100" dirty="0">
                <a:solidFill>
                  <a:schemeClr val="bg2"/>
                </a:solidFill>
              </a:rPr>
              <a:t>parámetros encontrados.</a:t>
            </a:r>
            <a:endParaRPr lang="es-CO" sz="1800" spc="100" dirty="0">
              <a:solidFill>
                <a:schemeClr val="bg2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9D9C14C-EFEE-E074-2D8F-B2917328AFBB}"/>
              </a:ext>
            </a:extLst>
          </p:cNvPr>
          <p:cNvSpPr txBox="1"/>
          <p:nvPr/>
        </p:nvSpPr>
        <p:spPr>
          <a:xfrm>
            <a:off x="2612571" y="3103735"/>
            <a:ext cx="691515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b="1" spc="100" dirty="0">
                <a:solidFill>
                  <a:schemeClr val="bg2"/>
                </a:solidFill>
              </a:rPr>
              <a:t>Optimización bayesiana </a:t>
            </a:r>
            <a:r>
              <a:rPr lang="es-CO" sz="1800" spc="100" dirty="0">
                <a:solidFill>
                  <a:schemeClr val="bg2"/>
                </a:solidFill>
              </a:rPr>
              <a:t>para el modelo ganador, aplicando hiperparámetros que reduzcan los reclamos no predichos.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95259D-3E2D-C7D3-FFC0-6382E1BF02E8}"/>
              </a:ext>
            </a:extLst>
          </p:cNvPr>
          <p:cNvSpPr txBox="1"/>
          <p:nvPr/>
        </p:nvSpPr>
        <p:spPr>
          <a:xfrm>
            <a:off x="2612571" y="5046248"/>
            <a:ext cx="6915150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Empaquetado del modelo para la evaluación en el </a:t>
            </a:r>
            <a:r>
              <a:rPr lang="es-CO" sz="1800" spc="100" dirty="0" err="1">
                <a:solidFill>
                  <a:schemeClr val="bg2"/>
                </a:solidFill>
              </a:rPr>
              <a:t>Dataset</a:t>
            </a:r>
            <a:r>
              <a:rPr lang="es-CO" sz="1800" spc="100" dirty="0">
                <a:solidFill>
                  <a:schemeClr val="bg2"/>
                </a:solidFill>
              </a:rPr>
              <a:t> de test.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FCA867-244B-6091-9DE6-A8708D391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05" y="1826721"/>
            <a:ext cx="859977" cy="85997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2ECF22D-3551-6A14-D9CC-DE3023E8F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505" y="2947469"/>
            <a:ext cx="859977" cy="859977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6067B80-2E01-433A-76E1-E87F63540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504" y="3920364"/>
            <a:ext cx="859977" cy="85997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AB09637-012A-20C1-CDA3-FBBF5FA59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503" y="4893259"/>
            <a:ext cx="859977" cy="85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46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A589D-305F-10FA-32EC-3D52E604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C5A93D-41D2-5813-6930-BA5BC1003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 noProof="0" dirty="0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D42BBB6-75FD-98E9-E0CD-BE418737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es-CO" noProof="0" smtClean="0"/>
              <a:pPr/>
              <a:t>15</a:t>
            </a:fld>
            <a:endParaRPr lang="es-CO" noProof="0" dirty="0"/>
          </a:p>
        </p:txBody>
      </p:sp>
      <p:sp>
        <p:nvSpPr>
          <p:cNvPr id="9" name="Titel 7">
            <a:extLst>
              <a:ext uri="{FF2B5EF4-FFF2-40B4-BE49-F238E27FC236}">
                <a16:creationId xmlns:a16="http://schemas.microsoft.com/office/drawing/2014/main" id="{89D331FB-8608-99CC-800C-A2C1CD3C538B}"/>
              </a:ext>
            </a:extLst>
          </p:cNvPr>
          <p:cNvSpPr txBox="1">
            <a:spLocks/>
          </p:cNvSpPr>
          <p:nvPr/>
        </p:nvSpPr>
        <p:spPr>
          <a:xfrm>
            <a:off x="3995738" y="488637"/>
            <a:ext cx="6840000" cy="676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noProof="0" dirty="0"/>
              <a:t>Agenda / </a:t>
            </a:r>
            <a:r>
              <a:rPr lang="es-CO" noProof="0" dirty="0">
                <a:solidFill>
                  <a:schemeClr val="accent4"/>
                </a:solidFill>
              </a:rPr>
              <a:t>Contenido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AB5BA-2F38-B0D7-5EE8-1C7E2C8FD74B}"/>
              </a:ext>
            </a:extLst>
          </p:cNvPr>
          <p:cNvSpPr txBox="1"/>
          <p:nvPr/>
        </p:nvSpPr>
        <p:spPr>
          <a:xfrm>
            <a:off x="3422723" y="1914242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kern="1200" noProof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  <a:ea typeface="+mn-ea"/>
                <a:cs typeface="+mn-cs"/>
              </a:rPr>
              <a:t>1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1CE13-D5AA-580F-0478-4BB611AE8CD3}"/>
              </a:ext>
            </a:extLst>
          </p:cNvPr>
          <p:cNvSpPr txBox="1"/>
          <p:nvPr/>
        </p:nvSpPr>
        <p:spPr>
          <a:xfrm>
            <a:off x="3995737" y="1976150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del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91448-B573-1C73-BE36-4AC418E56DDC}"/>
              </a:ext>
            </a:extLst>
          </p:cNvPr>
          <p:cNvSpPr txBox="1"/>
          <p:nvPr/>
        </p:nvSpPr>
        <p:spPr>
          <a:xfrm>
            <a:off x="3427486" y="256092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2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5EC0BD-1677-DBB4-05B3-D49E3F68EED3}"/>
              </a:ext>
            </a:extLst>
          </p:cNvPr>
          <p:cNvSpPr txBox="1"/>
          <p:nvPr/>
        </p:nvSpPr>
        <p:spPr>
          <a:xfrm>
            <a:off x="3417960" y="3249211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3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058F46-8C7E-6B4E-635F-B8BB485E1C89}"/>
              </a:ext>
            </a:extLst>
          </p:cNvPr>
          <p:cNvSpPr txBox="1"/>
          <p:nvPr/>
        </p:nvSpPr>
        <p:spPr>
          <a:xfrm>
            <a:off x="3427486" y="391533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4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C9D849-AC49-0BBB-71AD-C9EC38BCEC19}"/>
              </a:ext>
            </a:extLst>
          </p:cNvPr>
          <p:cNvSpPr txBox="1"/>
          <p:nvPr/>
        </p:nvSpPr>
        <p:spPr>
          <a:xfrm>
            <a:off x="3417960" y="4584180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rgbClr val="13A0D3"/>
                </a:solidFill>
                <a:latin typeface="Allianz Neo PPT" panose="020B0604020202020204" charset="0"/>
              </a:rPr>
              <a:t>5</a:t>
            </a:r>
            <a:endParaRPr lang="es-CO" sz="4400" noProof="0" dirty="0"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7B42F9-3DB3-13E0-5F10-14F9FB1733DE}"/>
              </a:ext>
            </a:extLst>
          </p:cNvPr>
          <p:cNvSpPr txBox="1"/>
          <p:nvPr/>
        </p:nvSpPr>
        <p:spPr>
          <a:xfrm>
            <a:off x="3995737" y="26847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 los Datos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6976B7-46A2-F552-2402-F5AF86FCDDDD}"/>
              </a:ext>
            </a:extLst>
          </p:cNvPr>
          <p:cNvSpPr txBox="1"/>
          <p:nvPr/>
        </p:nvSpPr>
        <p:spPr>
          <a:xfrm>
            <a:off x="3990974" y="3308396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Preparación de los Datos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1789D5-288D-B92F-77EE-9B106E6A035E}"/>
              </a:ext>
            </a:extLst>
          </p:cNvPr>
          <p:cNvSpPr txBox="1"/>
          <p:nvPr/>
        </p:nvSpPr>
        <p:spPr>
          <a:xfrm>
            <a:off x="3990974" y="39772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Modelado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E0A9C1-53F9-B1EE-C545-D4B0C8F44E2E}"/>
              </a:ext>
            </a:extLst>
          </p:cNvPr>
          <p:cNvSpPr txBox="1"/>
          <p:nvPr/>
        </p:nvSpPr>
        <p:spPr>
          <a:xfrm>
            <a:off x="4000500" y="4646088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tx1"/>
                </a:solidFill>
              </a:rPr>
              <a:t>Evaluación del modelo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8DBDE6-25EA-D981-B4E7-F1B47EF29383}"/>
              </a:ext>
            </a:extLst>
          </p:cNvPr>
          <p:cNvSpPr txBox="1"/>
          <p:nvPr/>
        </p:nvSpPr>
        <p:spPr>
          <a:xfrm>
            <a:off x="3415237" y="5210557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</a:rPr>
              <a:t>6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1E15D2-DE57-BCED-7F51-0639C242EAE0}"/>
              </a:ext>
            </a:extLst>
          </p:cNvPr>
          <p:cNvSpPr txBox="1"/>
          <p:nvPr/>
        </p:nvSpPr>
        <p:spPr>
          <a:xfrm>
            <a:off x="4000500" y="5272465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Próximos pasos</a:t>
            </a:r>
            <a:endParaRPr lang="es-CO" sz="3200" b="1" noProof="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8999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E0C0-CBFB-6375-2517-FC77EBAC7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2FBC02-6887-CB5C-6676-90DD659AE8EA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Modelado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Resultados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9AFC90-8D09-4AD3-AB4D-1E5BCA5FA566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375C41D2-CED2-0A78-CAEC-DE9F04C72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560" y="1615357"/>
            <a:ext cx="10430894" cy="4100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344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01DA0-3866-0BD0-F5C3-8C6BA471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1424F6-5BC1-8C28-5011-B1AFC39F8257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Modelado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Resultados</a:t>
            </a:r>
            <a:endParaRPr lang="es-CO" sz="2800" b="1" spc="100" noProof="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B75EAF2-96F1-1F47-5AED-9D8EA7FC0A72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1CC75CC8-3BE6-B932-DEA2-8BFCF613E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720198"/>
              </p:ext>
            </p:extLst>
          </p:nvPr>
        </p:nvGraphicFramePr>
        <p:xfrm>
          <a:off x="445296" y="2611438"/>
          <a:ext cx="10629896" cy="192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29">
                  <a:extLst>
                    <a:ext uri="{9D8B030D-6E8A-4147-A177-3AD203B41FA5}">
                      <a16:colId xmlns:a16="http://schemas.microsoft.com/office/drawing/2014/main" val="3743358864"/>
                    </a:ext>
                  </a:extLst>
                </a:gridCol>
                <a:gridCol w="1853293">
                  <a:extLst>
                    <a:ext uri="{9D8B030D-6E8A-4147-A177-3AD203B41FA5}">
                      <a16:colId xmlns:a16="http://schemas.microsoft.com/office/drawing/2014/main" val="3615557019"/>
                    </a:ext>
                  </a:extLst>
                </a:gridCol>
                <a:gridCol w="1730828">
                  <a:extLst>
                    <a:ext uri="{9D8B030D-6E8A-4147-A177-3AD203B41FA5}">
                      <a16:colId xmlns:a16="http://schemas.microsoft.com/office/drawing/2014/main" val="4140034540"/>
                    </a:ext>
                  </a:extLst>
                </a:gridCol>
                <a:gridCol w="5086346">
                  <a:extLst>
                    <a:ext uri="{9D8B030D-6E8A-4147-A177-3AD203B41FA5}">
                      <a16:colId xmlns:a16="http://schemas.microsoft.com/office/drawing/2014/main" val="4011037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Métrica Técnica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Meta Mínima (MVP)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Resultado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220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Capacidad de Discriminación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>
                          <a:effectLst/>
                          <a:latin typeface="menlo"/>
                        </a:rPr>
                        <a:t>ROC-AUC Score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&gt; 0.65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>
                          <a:effectLst/>
                        </a:rPr>
                        <a:t>0.67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198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>
                          <a:effectLst/>
                        </a:rPr>
                        <a:t>Cobertura de Riesgo</a:t>
                      </a:r>
                      <a:endParaRPr lang="es-CO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 err="1">
                          <a:effectLst/>
                          <a:latin typeface="menlo"/>
                        </a:rPr>
                        <a:t>Recall</a:t>
                      </a:r>
                      <a:r>
                        <a:rPr lang="es-CO" sz="1400" dirty="0">
                          <a:effectLst/>
                        </a:rPr>
                        <a:t> (Sensibilidad)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&gt; 60%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>
                          <a:effectLst/>
                        </a:rPr>
                        <a:t>0.64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19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>
                          <a:effectLst/>
                        </a:rPr>
                        <a:t>Eficiencia de Captación</a:t>
                      </a:r>
                      <a:endParaRPr lang="es-CO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>
                          <a:effectLst/>
                          <a:latin typeface="menlo"/>
                        </a:rPr>
                        <a:t>Lift @ Top 10%</a:t>
                      </a:r>
                      <a:endParaRPr lang="es-CO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b="1" dirty="0">
                          <a:effectLst/>
                        </a:rPr>
                        <a:t>&gt; 2.0x</a:t>
                      </a:r>
                      <a:endParaRPr lang="es-CO" sz="14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400" dirty="0">
                          <a:effectLst/>
                        </a:rPr>
                        <a:t>2.26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930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947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11FC7-2913-49FD-56E8-9EA68F43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507BA94-441E-0D40-B091-18F99DD6EA24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Modelado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 err="1">
                <a:solidFill>
                  <a:schemeClr val="bg1"/>
                </a:solidFill>
              </a:rPr>
              <a:t>Shap</a:t>
            </a:r>
            <a:r>
              <a:rPr lang="es-CO" sz="2800" b="1" spc="100" dirty="0">
                <a:solidFill>
                  <a:schemeClr val="bg1"/>
                </a:solidFill>
              </a:rPr>
              <a:t> </a:t>
            </a:r>
            <a:r>
              <a:rPr lang="es-CO" sz="2800" b="1" spc="100" dirty="0" err="1">
                <a:solidFill>
                  <a:schemeClr val="bg1"/>
                </a:solidFill>
              </a:rPr>
              <a:t>Values</a:t>
            </a:r>
            <a:endParaRPr lang="es-CO" sz="2800" b="1" spc="100" dirty="0">
              <a:solidFill>
                <a:schemeClr val="bg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4810BE-6FC4-3995-18A6-5ADAE94326B5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DABE6F5C-C8F4-1863-D990-6529F9F5A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57" y="1060309"/>
            <a:ext cx="4258131" cy="519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35E6ACE-2406-0FA0-C8A2-924A45FC79E8}"/>
              </a:ext>
            </a:extLst>
          </p:cNvPr>
          <p:cNvSpPr txBox="1"/>
          <p:nvPr/>
        </p:nvSpPr>
        <p:spPr>
          <a:xfrm>
            <a:off x="796245" y="2347621"/>
            <a:ext cx="4629150" cy="292387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El modelo toma como variables importantes las mencionadas en los datos relevantes donde a </a:t>
            </a:r>
            <a:r>
              <a:rPr lang="es-CO" sz="1800" b="1" spc="100" dirty="0">
                <a:solidFill>
                  <a:schemeClr val="bg2"/>
                </a:solidFill>
              </a:rPr>
              <a:t>mayor antigüedad</a:t>
            </a:r>
            <a:r>
              <a:rPr lang="es-CO" sz="1800" spc="100" dirty="0">
                <a:solidFill>
                  <a:schemeClr val="bg2"/>
                </a:solidFill>
              </a:rPr>
              <a:t> en la póliza mas riesgo de reclamo.</a:t>
            </a:r>
          </a:p>
          <a:p>
            <a:pPr algn="just">
              <a:spcAft>
                <a:spcPts val="600"/>
              </a:spcAft>
            </a:pPr>
            <a:endParaRPr lang="es-CO" sz="1800" spc="100" dirty="0">
              <a:solidFill>
                <a:schemeClr val="bg2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De aquí también podemos ver que entre </a:t>
            </a:r>
            <a:r>
              <a:rPr lang="es-CO" sz="1800" b="1" spc="100" dirty="0">
                <a:solidFill>
                  <a:schemeClr val="bg2"/>
                </a:solidFill>
              </a:rPr>
              <a:t>mas nuevo el vehículo, </a:t>
            </a:r>
            <a:r>
              <a:rPr lang="es-CO" sz="1800" spc="100" dirty="0">
                <a:solidFill>
                  <a:schemeClr val="bg2"/>
                </a:solidFill>
              </a:rPr>
              <a:t>más probabilidad de reclamo y en </a:t>
            </a:r>
            <a:r>
              <a:rPr lang="es-CO" sz="1800" b="1" spc="100" dirty="0">
                <a:solidFill>
                  <a:schemeClr val="bg2"/>
                </a:solidFill>
              </a:rPr>
              <a:t>ciudades de densidad media</a:t>
            </a:r>
            <a:r>
              <a:rPr lang="es-CO" sz="1800" spc="100" dirty="0">
                <a:solidFill>
                  <a:schemeClr val="bg2"/>
                </a:solidFill>
              </a:rPr>
              <a:t> también.</a:t>
            </a:r>
          </a:p>
        </p:txBody>
      </p:sp>
    </p:spTree>
    <p:extLst>
      <p:ext uri="{BB962C8B-B14F-4D97-AF65-F5344CB8AC3E}">
        <p14:creationId xmlns:p14="http://schemas.microsoft.com/office/powerpoint/2010/main" val="450967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6FA75-48E3-8E0B-8055-D6A30D489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7D09686-AE98-77C3-E6F1-82D133E89481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Modelado</a:t>
            </a: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Conclusiones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7B5E1D-74E5-F155-092A-C5D0CBFA6715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518BC7AD-9D09-D76C-3646-562EAEAC1B6B}"/>
              </a:ext>
            </a:extLst>
          </p:cNvPr>
          <p:cNvSpPr txBox="1"/>
          <p:nvPr/>
        </p:nvSpPr>
        <p:spPr>
          <a:xfrm>
            <a:off x="2612571" y="1979710"/>
            <a:ext cx="8000656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Es posible usar el modelo, pero se necesitaría mas </a:t>
            </a:r>
            <a:r>
              <a:rPr lang="es-CO" sz="1800" b="1" spc="100" dirty="0">
                <a:solidFill>
                  <a:schemeClr val="bg2"/>
                </a:solidFill>
              </a:rPr>
              <a:t>información del conductor o del vehículo</a:t>
            </a:r>
            <a:r>
              <a:rPr lang="es-CO" sz="1800" spc="100" dirty="0">
                <a:solidFill>
                  <a:schemeClr val="bg2"/>
                </a:solidFill>
              </a:rPr>
              <a:t> para hacerlo más robusto.</a:t>
            </a:r>
            <a:endParaRPr lang="es-CO" sz="1800" b="1" spc="100" dirty="0">
              <a:solidFill>
                <a:schemeClr val="bg2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B0E5B9-B2C1-2956-B86E-F42748A292A9}"/>
              </a:ext>
            </a:extLst>
          </p:cNvPr>
          <p:cNvSpPr txBox="1"/>
          <p:nvPr/>
        </p:nvSpPr>
        <p:spPr>
          <a:xfrm>
            <a:off x="2612571" y="4990564"/>
            <a:ext cx="8000656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Es recomendado revisar </a:t>
            </a:r>
            <a:r>
              <a:rPr lang="es-CO" sz="1800" b="1" spc="100" dirty="0">
                <a:solidFill>
                  <a:schemeClr val="bg2"/>
                </a:solidFill>
              </a:rPr>
              <a:t>planes de fidelización y auditoria </a:t>
            </a:r>
            <a:r>
              <a:rPr lang="es-CO" sz="1800" spc="100" dirty="0">
                <a:solidFill>
                  <a:schemeClr val="bg2"/>
                </a:solidFill>
              </a:rPr>
              <a:t>de los asegurados.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9656D7-F32E-CE6D-6B58-4A31388CD8B4}"/>
              </a:ext>
            </a:extLst>
          </p:cNvPr>
          <p:cNvSpPr txBox="1"/>
          <p:nvPr/>
        </p:nvSpPr>
        <p:spPr>
          <a:xfrm>
            <a:off x="2612570" y="3269067"/>
            <a:ext cx="8000647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No siempre la </a:t>
            </a:r>
            <a:r>
              <a:rPr lang="es-CO" sz="1800" b="1" spc="100" dirty="0">
                <a:solidFill>
                  <a:schemeClr val="bg2"/>
                </a:solidFill>
              </a:rPr>
              <a:t>seguridad alta </a:t>
            </a:r>
            <a:r>
              <a:rPr lang="es-CO" sz="1800" spc="100" dirty="0">
                <a:solidFill>
                  <a:schemeClr val="bg2"/>
                </a:solidFill>
              </a:rPr>
              <a:t>en un carro dependa del reclamo, muchas veces eso mismo hace que sea mas posible un reclamo ante un choque leve.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7F700C9-7DD2-2B83-1821-D5F32CF66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61" y="1667951"/>
            <a:ext cx="1031229" cy="103122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3D8A165-4AA2-42D7-4695-DE93D25E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261" y="3112586"/>
            <a:ext cx="1143958" cy="114395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9730BB1B-9354-0394-01B9-AEFF45F065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32" y="4557085"/>
            <a:ext cx="1143958" cy="11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215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D64D-09A3-E0B2-ABF8-69E3D649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5900B14-59D7-FC06-AFF4-C47323749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CO" noProof="0" dirty="0"/>
              <a:t>© Copyright Allianz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E000A1D-09EE-DF07-7010-0493FDFC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6B16C-3F5F-44BC-AFCC-8CBCBD90898D}" type="slidenum">
              <a:rPr lang="es-CO" noProof="0" smtClean="0"/>
              <a:pPr/>
              <a:t>20</a:t>
            </a:fld>
            <a:endParaRPr lang="es-CO" noProof="0" dirty="0"/>
          </a:p>
        </p:txBody>
      </p:sp>
      <p:sp>
        <p:nvSpPr>
          <p:cNvPr id="9" name="Titel 7">
            <a:extLst>
              <a:ext uri="{FF2B5EF4-FFF2-40B4-BE49-F238E27FC236}">
                <a16:creationId xmlns:a16="http://schemas.microsoft.com/office/drawing/2014/main" id="{B64D076E-657E-8EAC-3663-3DAC2BFA32F8}"/>
              </a:ext>
            </a:extLst>
          </p:cNvPr>
          <p:cNvSpPr txBox="1">
            <a:spLocks/>
          </p:cNvSpPr>
          <p:nvPr/>
        </p:nvSpPr>
        <p:spPr>
          <a:xfrm>
            <a:off x="3995738" y="488637"/>
            <a:ext cx="6840000" cy="676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7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noProof="0" dirty="0"/>
              <a:t>Agenda / </a:t>
            </a:r>
            <a:r>
              <a:rPr lang="es-CO" noProof="0" dirty="0">
                <a:solidFill>
                  <a:schemeClr val="accent4"/>
                </a:solidFill>
              </a:rPr>
              <a:t>Contenido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DC534-1B26-5254-C9CC-A92BFB6F12F0}"/>
              </a:ext>
            </a:extLst>
          </p:cNvPr>
          <p:cNvSpPr txBox="1"/>
          <p:nvPr/>
        </p:nvSpPr>
        <p:spPr>
          <a:xfrm>
            <a:off x="3422723" y="1914242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kern="1200" noProof="0" dirty="0"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Allianz Neo PPT" panose="020B0604020202020204" charset="0"/>
                <a:ea typeface="+mn-ea"/>
                <a:cs typeface="+mn-cs"/>
              </a:rPr>
              <a:t>1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5AB54-D57F-191C-EDB2-8F86598B460B}"/>
              </a:ext>
            </a:extLst>
          </p:cNvPr>
          <p:cNvSpPr txBox="1"/>
          <p:nvPr/>
        </p:nvSpPr>
        <p:spPr>
          <a:xfrm>
            <a:off x="3995737" y="1976150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del Negocio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09BA18-823A-5D2B-8DB5-7C6E1ACC1040}"/>
              </a:ext>
            </a:extLst>
          </p:cNvPr>
          <p:cNvSpPr txBox="1"/>
          <p:nvPr/>
        </p:nvSpPr>
        <p:spPr>
          <a:xfrm>
            <a:off x="3427486" y="256092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2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B9C96-3BFC-4920-9E4A-86B1865F13A4}"/>
              </a:ext>
            </a:extLst>
          </p:cNvPr>
          <p:cNvSpPr txBox="1"/>
          <p:nvPr/>
        </p:nvSpPr>
        <p:spPr>
          <a:xfrm>
            <a:off x="3417960" y="3249211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3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0198E-C344-C2B2-EA70-D16B94D2BF48}"/>
              </a:ext>
            </a:extLst>
          </p:cNvPr>
          <p:cNvSpPr txBox="1"/>
          <p:nvPr/>
        </p:nvSpPr>
        <p:spPr>
          <a:xfrm>
            <a:off x="3427486" y="3915334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4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33D5D3-3AB3-4687-1033-878623185F99}"/>
              </a:ext>
            </a:extLst>
          </p:cNvPr>
          <p:cNvSpPr txBox="1"/>
          <p:nvPr/>
        </p:nvSpPr>
        <p:spPr>
          <a:xfrm>
            <a:off x="3417960" y="4584180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noProof="0" dirty="0">
                <a:solidFill>
                  <a:schemeClr val="bg2">
                    <a:lumMod val="60000"/>
                    <a:lumOff val="40000"/>
                  </a:schemeClr>
                </a:solidFill>
                <a:latin typeface="Allianz Neo PPT" panose="020B0604020202020204" charset="0"/>
              </a:rPr>
              <a:t>5</a:t>
            </a:r>
            <a:endParaRPr lang="es-CO" sz="4400" noProof="0" dirty="0">
              <a:solidFill>
                <a:schemeClr val="bg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8E661-2B73-3C4D-7BF8-B78F29D7F280}"/>
              </a:ext>
            </a:extLst>
          </p:cNvPr>
          <p:cNvSpPr txBox="1"/>
          <p:nvPr/>
        </p:nvSpPr>
        <p:spPr>
          <a:xfrm>
            <a:off x="3995737" y="26847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Entendimiento de los Datos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BE67C-1E55-312A-1232-24846AC68F4D}"/>
              </a:ext>
            </a:extLst>
          </p:cNvPr>
          <p:cNvSpPr txBox="1"/>
          <p:nvPr/>
        </p:nvSpPr>
        <p:spPr>
          <a:xfrm>
            <a:off x="3990974" y="3308396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Preparación de los Datos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70191B-62F8-E46D-78B8-F2C29591E710}"/>
              </a:ext>
            </a:extLst>
          </p:cNvPr>
          <p:cNvSpPr txBox="1"/>
          <p:nvPr/>
        </p:nvSpPr>
        <p:spPr>
          <a:xfrm>
            <a:off x="3990974" y="3977242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Modelado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A55F6-161D-19C7-89F6-8E6FD010D540}"/>
              </a:ext>
            </a:extLst>
          </p:cNvPr>
          <p:cNvSpPr txBox="1"/>
          <p:nvPr/>
        </p:nvSpPr>
        <p:spPr>
          <a:xfrm>
            <a:off x="4000500" y="4646088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noProof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Evaluación del modelo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2D6E6-DA39-7207-FC3E-9D45073FD334}"/>
              </a:ext>
            </a:extLst>
          </p:cNvPr>
          <p:cNvSpPr txBox="1"/>
          <p:nvPr/>
        </p:nvSpPr>
        <p:spPr>
          <a:xfrm>
            <a:off x="3415237" y="5210557"/>
            <a:ext cx="573014" cy="708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ctr" rtl="0" eaLnBrk="1" latinLnBrk="0" hangingPunct="1">
              <a:lnSpc>
                <a:spcPct val="90000"/>
              </a:lnSpc>
              <a:buNone/>
            </a:pPr>
            <a:r>
              <a:rPr lang="es-CO" sz="4400" b="1" dirty="0">
                <a:solidFill>
                  <a:srgbClr val="13A0D3"/>
                </a:solidFill>
                <a:effectLst/>
                <a:latin typeface="Allianz Neo PPT" panose="020B0604020202020204" charset="0"/>
              </a:rPr>
              <a:t>6</a:t>
            </a:r>
            <a:endParaRPr lang="es-CO" sz="4400" noProof="0" dirty="0"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6EB3E6-5CC9-5BD5-AA03-EB16577AAC0E}"/>
              </a:ext>
            </a:extLst>
          </p:cNvPr>
          <p:cNvSpPr txBox="1"/>
          <p:nvPr/>
        </p:nvSpPr>
        <p:spPr>
          <a:xfrm>
            <a:off x="4000500" y="5272465"/>
            <a:ext cx="57599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200" b="1" dirty="0"/>
              <a:t>Próximos pasos</a:t>
            </a:r>
            <a:endParaRPr lang="es-CO" sz="3200" b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059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18A4-625E-A358-D21D-95BD3238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7362A7-A5B4-7BC2-72F4-073A8C8E8F3F}"/>
              </a:ext>
            </a:extLst>
          </p:cNvPr>
          <p:cNvSpPr txBox="1"/>
          <p:nvPr/>
        </p:nvSpPr>
        <p:spPr>
          <a:xfrm>
            <a:off x="2865664" y="220436"/>
            <a:ext cx="5886450" cy="93871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O" sz="2800" b="1" spc="100" noProof="0" dirty="0">
                <a:solidFill>
                  <a:srgbClr val="13A0D3"/>
                </a:solidFill>
              </a:rPr>
              <a:t>Modelado</a:t>
            </a:r>
            <a:endParaRPr lang="es-CO" sz="2800" b="1" spc="100" dirty="0">
              <a:solidFill>
                <a:schemeClr val="bg1"/>
              </a:solidFill>
            </a:endParaRPr>
          </a:p>
          <a:p>
            <a:pPr algn="l">
              <a:spcAft>
                <a:spcPts val="600"/>
              </a:spcAft>
            </a:pPr>
            <a:r>
              <a:rPr lang="es-CO" sz="2800" b="1" spc="100" dirty="0">
                <a:solidFill>
                  <a:schemeClr val="bg1"/>
                </a:solidFill>
              </a:rPr>
              <a:t>Despliegue de modelo</a:t>
            </a:r>
            <a:endParaRPr lang="es-CO" sz="2800" b="1" spc="100" noProof="0" dirty="0">
              <a:solidFill>
                <a:srgbClr val="13A0D3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3E28E-FB7D-403A-8A3F-52D784C1DF54}"/>
              </a:ext>
            </a:extLst>
          </p:cNvPr>
          <p:cNvCxnSpPr/>
          <p:nvPr/>
        </p:nvCxnSpPr>
        <p:spPr>
          <a:xfrm>
            <a:off x="2612571" y="220435"/>
            <a:ext cx="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1C76372A-D35B-1EE0-07C0-C61476EE5287}"/>
              </a:ext>
            </a:extLst>
          </p:cNvPr>
          <p:cNvSpPr txBox="1"/>
          <p:nvPr/>
        </p:nvSpPr>
        <p:spPr>
          <a:xfrm>
            <a:off x="2612562" y="1624211"/>
            <a:ext cx="8000656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Es mandatorio el uso de validaciones y despliegues automáticos a Azure </a:t>
            </a:r>
            <a:r>
              <a:rPr lang="es-CO" sz="1800" b="1" spc="100" dirty="0">
                <a:solidFill>
                  <a:schemeClr val="bg2"/>
                </a:solidFill>
              </a:rPr>
              <a:t>(</a:t>
            </a:r>
            <a:r>
              <a:rPr lang="es-CO" sz="1800" spc="100" dirty="0">
                <a:solidFill>
                  <a:schemeClr val="bg2"/>
                </a:solidFill>
              </a:rPr>
              <a:t>en el repositorio se deja instalación de validación de estas con </a:t>
            </a:r>
            <a:r>
              <a:rPr lang="es-CO" sz="1800" b="1" spc="100" dirty="0" err="1">
                <a:solidFill>
                  <a:schemeClr val="bg2"/>
                </a:solidFill>
              </a:rPr>
              <a:t>Github</a:t>
            </a:r>
            <a:r>
              <a:rPr lang="es-CO" sz="1800" b="1" spc="100" dirty="0">
                <a:solidFill>
                  <a:schemeClr val="bg2"/>
                </a:solidFill>
              </a:rPr>
              <a:t> </a:t>
            </a:r>
            <a:r>
              <a:rPr lang="es-CO" sz="1800" b="1" spc="100" dirty="0" err="1">
                <a:solidFill>
                  <a:schemeClr val="bg2"/>
                </a:solidFill>
              </a:rPr>
              <a:t>Actions</a:t>
            </a:r>
            <a:r>
              <a:rPr lang="es-CO" sz="1800" b="1" spc="100" dirty="0">
                <a:solidFill>
                  <a:schemeClr val="bg2"/>
                </a:solidFill>
              </a:rPr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CA75E9B-5CD6-E43A-2180-06E437FACBDA}"/>
              </a:ext>
            </a:extLst>
          </p:cNvPr>
          <p:cNvSpPr txBox="1"/>
          <p:nvPr/>
        </p:nvSpPr>
        <p:spPr>
          <a:xfrm>
            <a:off x="2612562" y="4343088"/>
            <a:ext cx="8000656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El uso de </a:t>
            </a:r>
            <a:r>
              <a:rPr lang="es-CO" sz="1800" b="1" spc="100" dirty="0">
                <a:solidFill>
                  <a:schemeClr val="bg2"/>
                </a:solidFill>
              </a:rPr>
              <a:t>Docker</a:t>
            </a:r>
            <a:r>
              <a:rPr lang="es-CO" sz="1800" spc="100" dirty="0">
                <a:solidFill>
                  <a:schemeClr val="bg2"/>
                </a:solidFill>
              </a:rPr>
              <a:t> es mandatorio para asegurar </a:t>
            </a:r>
            <a:r>
              <a:rPr lang="es-CO" sz="1800" b="1" spc="100" dirty="0">
                <a:solidFill>
                  <a:schemeClr val="bg2"/>
                </a:solidFill>
              </a:rPr>
              <a:t>reproducibilidad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3BF19E-4C05-F068-ECB0-8889E73262C4}"/>
              </a:ext>
            </a:extLst>
          </p:cNvPr>
          <p:cNvSpPr txBox="1"/>
          <p:nvPr/>
        </p:nvSpPr>
        <p:spPr>
          <a:xfrm>
            <a:off x="2612562" y="2920264"/>
            <a:ext cx="8000647" cy="553998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Uso de </a:t>
            </a:r>
            <a:r>
              <a:rPr lang="es-CO" sz="1800" b="1" spc="100" dirty="0" err="1">
                <a:solidFill>
                  <a:schemeClr val="bg2"/>
                </a:solidFill>
              </a:rPr>
              <a:t>Pytest</a:t>
            </a:r>
            <a:r>
              <a:rPr lang="es-CO" sz="1800" b="1" spc="100" dirty="0">
                <a:solidFill>
                  <a:schemeClr val="bg2"/>
                </a:solidFill>
              </a:rPr>
              <a:t>, </a:t>
            </a:r>
            <a:r>
              <a:rPr lang="es-CO" sz="1800" b="1" spc="100" dirty="0" err="1">
                <a:solidFill>
                  <a:schemeClr val="bg2"/>
                </a:solidFill>
              </a:rPr>
              <a:t>Bandit</a:t>
            </a:r>
            <a:r>
              <a:rPr lang="es-CO" sz="1800" b="1" spc="100" dirty="0">
                <a:solidFill>
                  <a:schemeClr val="bg2"/>
                </a:solidFill>
              </a:rPr>
              <a:t>, </a:t>
            </a:r>
            <a:r>
              <a:rPr lang="es-CO" sz="1800" b="1" spc="100" dirty="0" err="1">
                <a:solidFill>
                  <a:schemeClr val="bg2"/>
                </a:solidFill>
              </a:rPr>
              <a:t>Ruff</a:t>
            </a:r>
            <a:r>
              <a:rPr lang="es-CO" sz="1800" b="1" spc="100" dirty="0">
                <a:solidFill>
                  <a:schemeClr val="bg2"/>
                </a:solidFill>
              </a:rPr>
              <a:t> </a:t>
            </a:r>
            <a:r>
              <a:rPr lang="es-CO" sz="1800" spc="100" dirty="0">
                <a:solidFill>
                  <a:schemeClr val="bg2"/>
                </a:solidFill>
              </a:rPr>
              <a:t>para buenas prácticas de codificación </a:t>
            </a:r>
            <a:r>
              <a:rPr lang="es-CO" sz="1800" b="1" spc="100" dirty="0">
                <a:solidFill>
                  <a:schemeClr val="bg2"/>
                </a:solidFill>
              </a:rPr>
              <a:t>(CI/CD).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D7F757-0BD7-8DD8-2BE9-C0E2553F7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62" y="1624211"/>
            <a:ext cx="788889" cy="7888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2116FE5-78AA-B936-EED1-7E450EEE1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862" y="2802819"/>
            <a:ext cx="788888" cy="788888"/>
          </a:xfrm>
          <a:prstGeom prst="rect">
            <a:avLst/>
          </a:prstGeom>
        </p:spPr>
      </p:pic>
      <p:pic>
        <p:nvPicPr>
          <p:cNvPr id="6146" name="Picture 2" descr="Docker Hub: Centralized management of Docker images">
            <a:extLst>
              <a:ext uri="{FF2B5EF4-FFF2-40B4-BE49-F238E27FC236}">
                <a16:creationId xmlns:a16="http://schemas.microsoft.com/office/drawing/2014/main" id="{AECE4FDD-3708-C866-4F51-D05A9199D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291" y="4044572"/>
            <a:ext cx="874030" cy="874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561D5FC-B247-32F4-CAD9-104B43FE673F}"/>
              </a:ext>
            </a:extLst>
          </p:cNvPr>
          <p:cNvSpPr txBox="1"/>
          <p:nvPr/>
        </p:nvSpPr>
        <p:spPr>
          <a:xfrm>
            <a:off x="2612553" y="5170239"/>
            <a:ext cx="8000656" cy="830997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s-CO" sz="1800" spc="100" dirty="0">
                <a:solidFill>
                  <a:schemeClr val="bg2"/>
                </a:solidFill>
              </a:rPr>
              <a:t>Usar </a:t>
            </a:r>
            <a:r>
              <a:rPr lang="es-CO" sz="1800" b="1" spc="100" dirty="0">
                <a:solidFill>
                  <a:schemeClr val="bg2"/>
                </a:solidFill>
              </a:rPr>
              <a:t>Data-Store </a:t>
            </a:r>
            <a:r>
              <a:rPr lang="es-CO" sz="1800" spc="100" dirty="0">
                <a:solidFill>
                  <a:schemeClr val="bg2"/>
                </a:solidFill>
              </a:rPr>
              <a:t>de </a:t>
            </a:r>
            <a:r>
              <a:rPr lang="es-CO" sz="1800" b="1" spc="100" dirty="0">
                <a:solidFill>
                  <a:schemeClr val="bg2"/>
                </a:solidFill>
              </a:rPr>
              <a:t>Azure</a:t>
            </a:r>
            <a:r>
              <a:rPr lang="es-CO" sz="1800" spc="100" dirty="0">
                <a:solidFill>
                  <a:schemeClr val="bg2"/>
                </a:solidFill>
              </a:rPr>
              <a:t> para el modelo, </a:t>
            </a:r>
            <a:r>
              <a:rPr lang="es-CO" sz="1800" b="1" spc="100" dirty="0" err="1">
                <a:solidFill>
                  <a:schemeClr val="bg2"/>
                </a:solidFill>
              </a:rPr>
              <a:t>Secrets</a:t>
            </a:r>
            <a:r>
              <a:rPr lang="es-CO" sz="1800" spc="100" dirty="0">
                <a:solidFill>
                  <a:schemeClr val="bg2"/>
                </a:solidFill>
              </a:rPr>
              <a:t> para variables privadas y pipelines de reentrenamiento con </a:t>
            </a:r>
            <a:r>
              <a:rPr lang="es-CO" sz="1800" b="1" spc="100" dirty="0">
                <a:solidFill>
                  <a:schemeClr val="bg2"/>
                </a:solidFill>
              </a:rPr>
              <a:t>control de data-</a:t>
            </a:r>
            <a:r>
              <a:rPr lang="es-CO" sz="1800" b="1" spc="100" dirty="0" err="1">
                <a:solidFill>
                  <a:schemeClr val="bg2"/>
                </a:solidFill>
              </a:rPr>
              <a:t>drift</a:t>
            </a:r>
            <a:r>
              <a:rPr lang="es-CO" sz="1800" b="1" spc="100" dirty="0">
                <a:solidFill>
                  <a:schemeClr val="bg2"/>
                </a:solidFill>
              </a:rPr>
              <a:t> </a:t>
            </a:r>
            <a:r>
              <a:rPr lang="es-CO" sz="1800" spc="100" dirty="0">
                <a:solidFill>
                  <a:schemeClr val="bg2"/>
                </a:solidFill>
              </a:rPr>
              <a:t>teniendo en cuenta la variable principal que es antigüedad de póliza.</a:t>
            </a:r>
            <a:endParaRPr lang="es-CO" sz="1800" b="1" spc="100" dirty="0">
              <a:solidFill>
                <a:schemeClr val="bg2"/>
              </a:solidFill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52596D0-5B8F-59D9-818B-5ACB376709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60" y="5116047"/>
            <a:ext cx="885189" cy="88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73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platzhalter 11">
            <a:extLst>
              <a:ext uri="{FF2B5EF4-FFF2-40B4-BE49-F238E27FC236}">
                <a16:creationId xmlns:a16="http://schemas.microsoft.com/office/drawing/2014/main" id="{0BB91C01-0B5E-4F30-9D42-208DC25B53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57224E3-189C-4F88-AEA9-02D65095C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© Copyright Allianz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5797988-58D4-4499-875E-61753FCAB7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4" y="2861187"/>
            <a:ext cx="3382962" cy="2791901"/>
          </a:xfrm>
        </p:spPr>
        <p:txBody>
          <a:bodyPr/>
          <a:lstStyle/>
          <a:p>
            <a:r>
              <a:rPr lang="de-DE" dirty="0"/>
              <a:t>Muchas Gracias!</a:t>
            </a:r>
          </a:p>
        </p:txBody>
      </p:sp>
      <p:sp>
        <p:nvSpPr>
          <p:cNvPr id="16" name="Grafik 13">
            <a:extLst>
              <a:ext uri="{FF2B5EF4-FFF2-40B4-BE49-F238E27FC236}">
                <a16:creationId xmlns:a16="http://schemas.microsoft.com/office/drawing/2014/main" id="{43EDEF05-5AA6-4791-9B0E-3E3E5A3B5627}"/>
              </a:ext>
            </a:extLst>
          </p:cNvPr>
          <p:cNvSpPr>
            <a:spLocks noChangeAspect="1"/>
          </p:cNvSpPr>
          <p:nvPr/>
        </p:nvSpPr>
        <p:spPr>
          <a:xfrm>
            <a:off x="3600243" y="1080087"/>
            <a:ext cx="4320001" cy="4320000"/>
          </a:xfrm>
          <a:custGeom>
            <a:avLst/>
            <a:gdLst>
              <a:gd name="connsiteX0" fmla="*/ 3048606 w 5327650"/>
              <a:gd name="connsiteY0" fmla="*/ 4158431 h 5327649"/>
              <a:gd name="connsiteX1" fmla="*/ 3048606 w 5327650"/>
              <a:gd name="connsiteY1" fmla="*/ 1218444 h 5327649"/>
              <a:gd name="connsiteX2" fmla="*/ 2737659 w 5327650"/>
              <a:gd name="connsiteY2" fmla="*/ 905364 h 5327649"/>
              <a:gd name="connsiteX3" fmla="*/ 2049870 w 5327650"/>
              <a:gd name="connsiteY3" fmla="*/ 905364 h 5327649"/>
              <a:gd name="connsiteX4" fmla="*/ 2049870 w 5327650"/>
              <a:gd name="connsiteY4" fmla="*/ 1233529 h 5327649"/>
              <a:gd name="connsiteX5" fmla="*/ 2090888 w 5327650"/>
              <a:gd name="connsiteY5" fmla="*/ 1233529 h 5327649"/>
              <a:gd name="connsiteX6" fmla="*/ 2278251 w 5327650"/>
              <a:gd name="connsiteY6" fmla="*/ 1458216 h 5327649"/>
              <a:gd name="connsiteX7" fmla="*/ 2278251 w 5327650"/>
              <a:gd name="connsiteY7" fmla="*/ 4158431 h 5327649"/>
              <a:gd name="connsiteX8" fmla="*/ 3048606 w 5327650"/>
              <a:gd name="connsiteY8" fmla="*/ 4158431 h 5327649"/>
              <a:gd name="connsiteX9" fmla="*/ 3387869 w 5327650"/>
              <a:gd name="connsiteY9" fmla="*/ 4158431 h 5327649"/>
              <a:gd name="connsiteX10" fmla="*/ 4152137 w 5327650"/>
              <a:gd name="connsiteY10" fmla="*/ 4158431 h 5327649"/>
              <a:gd name="connsiteX11" fmla="*/ 4152137 w 5327650"/>
              <a:gd name="connsiteY11" fmla="*/ 1868687 h 5327649"/>
              <a:gd name="connsiteX12" fmla="*/ 3839602 w 5327650"/>
              <a:gd name="connsiteY12" fmla="*/ 1556136 h 5327649"/>
              <a:gd name="connsiteX13" fmla="*/ 3387869 w 5327650"/>
              <a:gd name="connsiteY13" fmla="*/ 1556136 h 5327649"/>
              <a:gd name="connsiteX14" fmla="*/ 3387869 w 5327650"/>
              <a:gd name="connsiteY14" fmla="*/ 4158431 h 5327649"/>
              <a:gd name="connsiteX15" fmla="*/ 1940840 w 5327650"/>
              <a:gd name="connsiteY15" fmla="*/ 4158431 h 5327649"/>
              <a:gd name="connsiteX16" fmla="*/ 1940840 w 5327650"/>
              <a:gd name="connsiteY16" fmla="*/ 1556136 h 5327649"/>
              <a:gd name="connsiteX17" fmla="*/ 1488048 w 5327650"/>
              <a:gd name="connsiteY17" fmla="*/ 1556136 h 5327649"/>
              <a:gd name="connsiteX18" fmla="*/ 1176307 w 5327650"/>
              <a:gd name="connsiteY18" fmla="*/ 1868687 h 5327649"/>
              <a:gd name="connsiteX19" fmla="*/ 1176307 w 5327650"/>
              <a:gd name="connsiteY19" fmla="*/ 4158431 h 5327649"/>
              <a:gd name="connsiteX20" fmla="*/ 1940840 w 5327650"/>
              <a:gd name="connsiteY20" fmla="*/ 4158431 h 5327649"/>
              <a:gd name="connsiteX21" fmla="*/ 4875123 w 5327650"/>
              <a:gd name="connsiteY21" fmla="*/ 2664222 h 5327649"/>
              <a:gd name="connsiteX22" fmla="*/ 2664090 w 5327650"/>
              <a:gd name="connsiteY22" fmla="*/ 4901565 h 5327649"/>
              <a:gd name="connsiteX23" fmla="*/ 452792 w 5327650"/>
              <a:gd name="connsiteY23" fmla="*/ 2664222 h 5327649"/>
              <a:gd name="connsiteX24" fmla="*/ 2664090 w 5327650"/>
              <a:gd name="connsiteY24" fmla="*/ 426350 h 5327649"/>
              <a:gd name="connsiteX25" fmla="*/ 4875123 w 5327650"/>
              <a:gd name="connsiteY25" fmla="*/ 2664222 h 5327649"/>
              <a:gd name="connsiteX26" fmla="*/ 5327650 w 5327650"/>
              <a:gd name="connsiteY26" fmla="*/ 2657341 h 5327649"/>
              <a:gd name="connsiteX27" fmla="*/ 2667530 w 5327650"/>
              <a:gd name="connsiteY27" fmla="*/ 0 h 5327649"/>
              <a:gd name="connsiteX28" fmla="*/ 2660649 w 5327650"/>
              <a:gd name="connsiteY28" fmla="*/ 0 h 5327649"/>
              <a:gd name="connsiteX29" fmla="*/ 0 w 5327650"/>
              <a:gd name="connsiteY29" fmla="*/ 2664222 h 5327649"/>
              <a:gd name="connsiteX30" fmla="*/ 2664090 w 5327650"/>
              <a:gd name="connsiteY30" fmla="*/ 5327650 h 5327649"/>
              <a:gd name="connsiteX31" fmla="*/ 5327650 w 5327650"/>
              <a:gd name="connsiteY31" fmla="*/ 2670838 h 5327649"/>
              <a:gd name="connsiteX32" fmla="*/ 5327650 w 5327650"/>
              <a:gd name="connsiteY32" fmla="*/ 2657341 h 5327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327650" h="5327649">
                <a:moveTo>
                  <a:pt x="3048606" y="4158431"/>
                </a:moveTo>
                <a:lnTo>
                  <a:pt x="3048606" y="1218444"/>
                </a:lnTo>
                <a:cubicBezTo>
                  <a:pt x="3048606" y="984230"/>
                  <a:pt x="2965245" y="905364"/>
                  <a:pt x="2737659" y="905364"/>
                </a:cubicBezTo>
                <a:lnTo>
                  <a:pt x="2049870" y="905364"/>
                </a:lnTo>
                <a:lnTo>
                  <a:pt x="2049870" y="1233529"/>
                </a:lnTo>
                <a:lnTo>
                  <a:pt x="2090888" y="1233529"/>
                </a:lnTo>
                <a:cubicBezTo>
                  <a:pt x="2248082" y="1233529"/>
                  <a:pt x="2278251" y="1268992"/>
                  <a:pt x="2278251" y="1458216"/>
                </a:cubicBezTo>
                <a:lnTo>
                  <a:pt x="2278251" y="4158431"/>
                </a:lnTo>
                <a:lnTo>
                  <a:pt x="3048606" y="4158431"/>
                </a:lnTo>
                <a:close/>
                <a:moveTo>
                  <a:pt x="3387869" y="4158431"/>
                </a:moveTo>
                <a:lnTo>
                  <a:pt x="4152137" y="4158431"/>
                </a:lnTo>
                <a:lnTo>
                  <a:pt x="4152137" y="1868687"/>
                </a:lnTo>
                <a:cubicBezTo>
                  <a:pt x="4152137" y="1638972"/>
                  <a:pt x="4063484" y="1556136"/>
                  <a:pt x="3839602" y="1556136"/>
                </a:cubicBezTo>
                <a:lnTo>
                  <a:pt x="3387869" y="1556136"/>
                </a:lnTo>
                <a:lnTo>
                  <a:pt x="3387869" y="4158431"/>
                </a:lnTo>
                <a:close/>
                <a:moveTo>
                  <a:pt x="1940840" y="4158431"/>
                </a:moveTo>
                <a:lnTo>
                  <a:pt x="1940840" y="1556136"/>
                </a:lnTo>
                <a:lnTo>
                  <a:pt x="1488048" y="1556136"/>
                </a:lnTo>
                <a:cubicBezTo>
                  <a:pt x="1264166" y="1556136"/>
                  <a:pt x="1176307" y="1638972"/>
                  <a:pt x="1176307" y="1868687"/>
                </a:cubicBezTo>
                <a:lnTo>
                  <a:pt x="1176307" y="4158431"/>
                </a:lnTo>
                <a:lnTo>
                  <a:pt x="1940840" y="4158431"/>
                </a:lnTo>
                <a:close/>
                <a:moveTo>
                  <a:pt x="4875123" y="2664222"/>
                </a:moveTo>
                <a:cubicBezTo>
                  <a:pt x="4875123" y="3959679"/>
                  <a:pt x="3943869" y="4901565"/>
                  <a:pt x="2664090" y="4901565"/>
                </a:cubicBezTo>
                <a:cubicBezTo>
                  <a:pt x="1384310" y="4901565"/>
                  <a:pt x="452792" y="3959679"/>
                  <a:pt x="452792" y="2664222"/>
                </a:cubicBezTo>
                <a:cubicBezTo>
                  <a:pt x="452792" y="1368500"/>
                  <a:pt x="1384310" y="426350"/>
                  <a:pt x="2664090" y="426350"/>
                </a:cubicBezTo>
                <a:cubicBezTo>
                  <a:pt x="3943869" y="426350"/>
                  <a:pt x="4875123" y="1374323"/>
                  <a:pt x="4875123" y="2664222"/>
                </a:cubicBezTo>
                <a:close/>
                <a:moveTo>
                  <a:pt x="5327650" y="2657341"/>
                </a:moveTo>
                <a:cubicBezTo>
                  <a:pt x="5324210" y="1138520"/>
                  <a:pt x="4187599" y="1588"/>
                  <a:pt x="2667530" y="0"/>
                </a:cubicBezTo>
                <a:lnTo>
                  <a:pt x="2660649" y="0"/>
                </a:lnTo>
                <a:cubicBezTo>
                  <a:pt x="1137670" y="1588"/>
                  <a:pt x="0" y="1141961"/>
                  <a:pt x="0" y="2664222"/>
                </a:cubicBezTo>
                <a:cubicBezTo>
                  <a:pt x="0" y="4189395"/>
                  <a:pt x="1139258" y="5327650"/>
                  <a:pt x="2664090" y="5327650"/>
                </a:cubicBezTo>
                <a:cubicBezTo>
                  <a:pt x="4186011" y="5327650"/>
                  <a:pt x="5324210" y="4192835"/>
                  <a:pt x="5327650" y="2670838"/>
                </a:cubicBezTo>
                <a:lnTo>
                  <a:pt x="5327650" y="2657341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</a:schemeClr>
              </a:gs>
              <a:gs pos="100000">
                <a:schemeClr val="bg1">
                  <a:alpha val="25000"/>
                  <a:lumMod val="100000"/>
                </a:schemeClr>
              </a:gs>
            </a:gsLst>
            <a:lin ang="18900000" scaled="1"/>
            <a:tileRect/>
          </a:gradFill>
          <a:ln w="264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0580389"/>
      </p:ext>
    </p:extLst>
  </p:cSld>
  <p:clrMapOvr>
    <a:masterClrMapping/>
  </p:clrMapOvr>
</p:sld>
</file>

<file path=ppt/theme/theme1.xml><?xml version="1.0" encoding="utf-8"?>
<a:theme xmlns:a="http://schemas.openxmlformats.org/drawingml/2006/main" name="Allianz whit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llianzNeoPPT Fonts">
      <a:majorFont>
        <a:latin typeface="Allianz Neo PPT"/>
        <a:ea typeface=""/>
        <a:cs typeface=""/>
      </a:majorFont>
      <a:minorFont>
        <a:latin typeface="Allianz Neo PP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lIns="0" tIns="0" rIns="0" bIns="0" rtlCol="0">
        <a:spAutoFit/>
      </a:bodyPr>
      <a:lstStyle>
        <a:defPPr algn="l">
          <a:spcAft>
            <a:spcPts val="600"/>
          </a:spcAft>
          <a:defRPr sz="1510" b="1" spc="100" smtClean="0">
            <a:solidFill>
              <a:srgbClr val="13A0D3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</a:theme>
</file>

<file path=ppt/theme/theme2.xml><?xml version="1.0" encoding="utf-8"?>
<a:theme xmlns:a="http://schemas.openxmlformats.org/drawingml/2006/main" name="Allianz blue">
  <a:themeElements>
    <a:clrScheme name="AllianzBlue">
      <a:dk1>
        <a:srgbClr val="003781"/>
      </a:dk1>
      <a:lt1>
        <a:srgbClr val="FFFFFF"/>
      </a:lt1>
      <a:dk2>
        <a:srgbClr val="414141"/>
      </a:dk2>
      <a:lt2>
        <a:srgbClr val="CFCFCF"/>
      </a:lt2>
      <a:accent1>
        <a:srgbClr val="122B54"/>
      </a:accent1>
      <a:accent2>
        <a:srgbClr val="006192"/>
      </a:accent2>
      <a:accent3>
        <a:srgbClr val="007AB3"/>
      </a:accent3>
      <a:accent4>
        <a:srgbClr val="13A0D3"/>
      </a:accent4>
      <a:accent5>
        <a:srgbClr val="B5DAE6"/>
      </a:accent5>
      <a:accent6>
        <a:srgbClr val="DFEFF2"/>
      </a:accent6>
      <a:hlink>
        <a:srgbClr val="003781"/>
      </a:hlink>
      <a:folHlink>
        <a:srgbClr val="B4B4B4"/>
      </a:folHlink>
    </a:clrScheme>
    <a:fontScheme name="AllianzNeoPPT Fonts">
      <a:majorFont>
        <a:latin typeface="Allianz Neo PPT"/>
        <a:ea typeface=""/>
        <a:cs typeface=""/>
      </a:majorFont>
      <a:minorFont>
        <a:latin typeface="Allianz Neo PP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wrap="square" lIns="0" tIns="0" rIns="0" bIns="0" rtlCol="0">
        <a:spAutoFit/>
      </a:bodyPr>
      <a:lstStyle>
        <a:defPPr algn="l">
          <a:spcAft>
            <a:spcPts val="600"/>
          </a:spcAft>
          <a:defRPr sz="1510" b="1" spc="100" smtClean="0">
            <a:solidFill>
              <a:srgbClr val="13A0D3"/>
            </a:solidFill>
          </a:defRPr>
        </a:defPPr>
      </a:lstStyle>
    </a:txDef>
  </a:objectDefaults>
  <a:extraClrSchemeLst>
    <a:extraClrScheme>
      <a:clrScheme name="AllianzBlue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122B54"/>
        </a:accent1>
        <a:accent2>
          <a:srgbClr val="006192"/>
        </a:accent2>
        <a:accent3>
          <a:srgbClr val="007AB3"/>
        </a:accent3>
        <a:accent4>
          <a:srgbClr val="13A0D3"/>
        </a:accent4>
        <a:accent5>
          <a:srgbClr val="B5DAE6"/>
        </a:accent5>
        <a:accent6>
          <a:srgbClr val="DFEFF2"/>
        </a:accent6>
        <a:hlink>
          <a:srgbClr val="003781"/>
        </a:hlink>
        <a:folHlink>
          <a:srgbClr val="B4B4B4"/>
        </a:folHlink>
      </a:clrScheme>
    </a:extraClrScheme>
    <a:extraClrScheme>
      <a:clrScheme name="AllianzVibrant">
        <a:dk1>
          <a:srgbClr val="003781"/>
        </a:dk1>
        <a:lt1>
          <a:srgbClr val="FFFFFF"/>
        </a:lt1>
        <a:dk2>
          <a:srgbClr val="414141"/>
        </a:dk2>
        <a:lt2>
          <a:srgbClr val="CFCFCF"/>
        </a:lt2>
        <a:accent1>
          <a:srgbClr val="00908D"/>
        </a:accent1>
        <a:accent2>
          <a:srgbClr val="5FCD8A"/>
        </a:accent2>
        <a:accent3>
          <a:srgbClr val="A6276F"/>
        </a:accent3>
        <a:accent4>
          <a:srgbClr val="F62459"/>
        </a:accent4>
        <a:accent5>
          <a:srgbClr val="F86200"/>
        </a:accent5>
        <a:accent6>
          <a:srgbClr val="FAB600"/>
        </a:accent6>
        <a:hlink>
          <a:srgbClr val="003781"/>
        </a:hlink>
        <a:folHlink>
          <a:srgbClr val="B4B4B4"/>
        </a:folHlink>
      </a:clrScheme>
    </a:extraClrScheme>
  </a:extraClrSchemeLst>
  <a:custClrLst>
    <a:custClr name="rgb(18,43,84)">
      <a:srgbClr val="122B54"/>
    </a:custClr>
    <a:custClr name="rgb(0,97,146)">
      <a:srgbClr val="006192"/>
    </a:custClr>
    <a:custClr name="rgb(0,122,179)">
      <a:srgbClr val="007AB3"/>
    </a:custClr>
    <a:custClr name="rgb(19,160,211)">
      <a:srgbClr val="13A0D3"/>
    </a:custClr>
    <a:custClr name="rgb(181,218,230)">
      <a:srgbClr val="B5DAE6"/>
    </a:custClr>
    <a:custClr name="rgb(223,239,242)">
      <a:srgbClr val="DFEFF2"/>
    </a:custClr>
    <a:custClr name="rgb(0,144,141)">
      <a:srgbClr val="00908D"/>
    </a:custClr>
    <a:custClr name="rgb(95,205,138)">
      <a:srgbClr val="5FCD8A"/>
    </a:custClr>
    <a:custClr name="rgb(166,39,111)">
      <a:srgbClr val="A6276F"/>
    </a:custClr>
    <a:custClr name="rgb(246,36,89)">
      <a:srgbClr val="F62459"/>
    </a:custClr>
    <a:custClr name="rgb(248,98,0)">
      <a:srgbClr val="F86200"/>
    </a:custClr>
    <a:custClr name="rgb(250,182,0)">
      <a:srgbClr val="FAB600"/>
    </a:custClr>
  </a:custClr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ractExpirationDate xmlns="f073fbe8-cd14-421d-b654-f7fcf33797cd" xsi:nil="true"/>
    <_ip_UnifiedCompliancePolicyUIAction xmlns="http://schemas.microsoft.com/sharepoint/v3" xsi:nil="true"/>
    <lea0a31e817248899d4c7be80015971d xmlns="f073fbe8-cd14-421d-b654-f7fcf33797cd">
      <Terms xmlns="http://schemas.microsoft.com/office/infopath/2007/PartnerControls"/>
    </lea0a31e817248899d4c7be80015971d>
    <g7663e614b724fe8a327add83b6f8fb9 xmlns="f073fbe8-cd14-421d-b654-f7fcf33797cd">
      <Terms xmlns="http://schemas.microsoft.com/office/infopath/2007/PartnerControls"/>
    </g7663e614b724fe8a327add83b6f8fb9>
    <DossierStatus xmlns="f073fbe8-cd14-421d-b654-f7fcf33797cd" xsi:nil="true"/>
    <_ip_UnifiedCompliancePolicyProperties xmlns="http://schemas.microsoft.com/sharepoint/v3" xsi:nil="true"/>
    <DossierOwner xmlns="f073fbe8-cd14-421d-b654-f7fcf33797cd">
      <UserInfo>
        <DisplayName/>
        <AccountId xsi:nil="true"/>
        <AccountType/>
      </UserInfo>
    </DossierOwner>
    <ContractDate xmlns="f073fbe8-cd14-421d-b654-f7fcf33797cd" xsi:nil="true"/>
    <MailPreviewData xmlns="f073fbe8-cd14-421d-b654-f7fcf33797cd" xsi:nil="true"/>
    <TaxCatchAll xmlns="f073fbe8-cd14-421d-b654-f7fcf33797cd" xsi:nil="true"/>
    <lcf76f155ced4ddcb4097134ff3c332f xmlns="18cad988-1117-4da2-9673-3e82961b493c">
      <Terms xmlns="http://schemas.microsoft.com/office/infopath/2007/PartnerControls"/>
    </lcf76f155ced4ddcb4097134ff3c332f>
    <_dlc_DocId xmlns="f073fbe8-cd14-421d-b654-f7fcf33797cd">HMCA7K5WVZU6-1482376764-240413</_dlc_DocId>
    <_dlc_DocIdUrl xmlns="f073fbe8-cd14-421d-b654-f7fcf33797cd">
      <Url>https://allianzms.sharepoint.com/teams/ID0002-4654994/_layouts/15/DocIdRedir.aspx?ID=HMCA7K5WVZU6-1482376764-240413</Url>
      <Description>HMCA7K5WVZU6-1482376764-240413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4D8E7A87900347BD2A1998CCBA131D" ma:contentTypeVersion="43" ma:contentTypeDescription="Create a new document." ma:contentTypeScope="" ma:versionID="b43ccd04594cc56079b79b2f68a9865f">
  <xsd:schema xmlns:xsd="http://www.w3.org/2001/XMLSchema" xmlns:xs="http://www.w3.org/2001/XMLSchema" xmlns:p="http://schemas.microsoft.com/office/2006/metadata/properties" xmlns:ns1="http://schemas.microsoft.com/sharepoint/v3" xmlns:ns2="f073fbe8-cd14-421d-b654-f7fcf33797cd" xmlns:ns3="18cad988-1117-4da2-9673-3e82961b493c" targetNamespace="http://schemas.microsoft.com/office/2006/metadata/properties" ma:root="true" ma:fieldsID="f7d48a96bb9d5bcf941c7853edacd564" ns1:_="" ns2:_="" ns3:_="">
    <xsd:import namespace="http://schemas.microsoft.com/sharepoint/v3"/>
    <xsd:import namespace="f073fbe8-cd14-421d-b654-f7fcf33797cd"/>
    <xsd:import namespace="18cad988-1117-4da2-9673-3e82961b493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MailPreviewData" minOccurs="0"/>
                <xsd:element ref="ns2:g7663e614b724fe8a327add83b6f8fb9" minOccurs="0"/>
                <xsd:element ref="ns2:TaxCatchAll" minOccurs="0"/>
                <xsd:element ref="ns2:TaxCatchAllLabel" minOccurs="0"/>
                <xsd:element ref="ns2:DossierOwner" minOccurs="0"/>
                <xsd:element ref="ns2:DossierStatus" minOccurs="0"/>
                <xsd:element ref="ns2:ContractExpirationDate" minOccurs="0"/>
                <xsd:element ref="ns2:ContractDate" minOccurs="0"/>
                <xsd:element ref="ns2:lea0a31e817248899d4c7be80015971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1:_ip_UnifiedCompliancePolicyProperties" minOccurs="0"/>
                <xsd:element ref="ns1:_ip_UnifiedCompliancePolicyUIActio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3:MediaServiceOCR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73fbe8-cd14-421d-b654-f7fcf33797c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MailPreviewData" ma:index="11" nillable="true" ma:displayName="Mail Preview" ma:description="File preview for harmonie" ma:hidden="true" ma:internalName="MailPreviewData" ma:readOnly="false">
      <xsd:simpleType>
        <xsd:restriction base="dms:Note"/>
      </xsd:simpleType>
    </xsd:element>
    <xsd:element name="g7663e614b724fe8a327add83b6f8fb9" ma:index="12" nillable="true" ma:taxonomy="true" ma:internalName="g7663e614b724fe8a327add83b6f8fb9" ma:taxonomyFieldName="Document_Class" ma:displayName="Document Class" ma:fieldId="{07663e61-4b72-4fe8-a327-add83b6f8fb9}" ma:sspId="10820af1-e82f-496e-bbcb-d9502914b7b2" ma:termSetId="a8fe5516-3f25-4a18-9fe8-9ec61fcfebb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653446c-77bb-4a96-ad00-4ec20eceb4f9}" ma:internalName="TaxCatchAll" ma:showField="CatchAllData" ma:web="f073fbe8-cd14-421d-b654-f7fcf33797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653446c-77bb-4a96-ad00-4ec20eceb4f9}" ma:internalName="TaxCatchAllLabel" ma:readOnly="true" ma:showField="CatchAllDataLabel" ma:web="f073fbe8-cd14-421d-b654-f7fcf33797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ossierOwner" ma:index="16" nillable="true" ma:displayName="Dossier owner(s)" ma:description="Person(s) owning the dossier." ma:hidden="true" ma:internalName="Dossie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ossierStatus" ma:index="17" nillable="true" ma:displayName="Dossier Status" ma:description="Indicate the status of the dossier." ma:hidden="true" ma:internalName="DossierStatus" ma:readOnly="false">
      <xsd:simpleType>
        <xsd:restriction base="dms:Choice">
          <xsd:enumeration value="Open"/>
          <xsd:enumeration value="Closed"/>
        </xsd:restriction>
      </xsd:simpleType>
    </xsd:element>
    <xsd:element name="ContractExpirationDate" ma:index="18" nillable="true" ma:displayName="Expiry Date" ma:description="The formal expiration date of the subject, either according to the contractual agreement or because a termination has become (legally) effective. " ma:format="DateOnly" ma:hidden="true" ma:internalName="ContractExpirationDate" ma:readOnly="false">
      <xsd:simpleType>
        <xsd:restriction base="dms:DateTime"/>
      </xsd:simpleType>
    </xsd:element>
    <xsd:element name="ContractDate" ma:index="19" nillable="true" ma:displayName="Contract Date" ma:description="Date when the contract has been closed." ma:format="DateOnly" ma:hidden="true" ma:internalName="ContractDate" ma:readOnly="false">
      <xsd:simpleType>
        <xsd:restriction base="dms:DateTime"/>
      </xsd:simpleType>
    </xsd:element>
    <xsd:element name="lea0a31e817248899d4c7be80015971d" ma:index="20" nillable="true" ma:taxonomy="true" ma:internalName="lea0a31e817248899d4c7be80015971d" ma:taxonomyFieldName="Contract_Type" ma:displayName="Contract Type" ma:fieldId="{5ea0a31e-8172-4889-9d4c-7be80015971d}" ma:sspId="10820af1-e82f-496e-bbcb-d9502914b7b2" ma:termSetId="70805c8f-f58a-429f-b5cb-62c5b6dc552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cad988-1117-4da2-9673-3e82961b49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0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32" nillable="true" ma:taxonomy="true" ma:internalName="lcf76f155ced4ddcb4097134ff3c332f" ma:taxonomyFieldName="MediaServiceImageTags" ma:displayName="Image Tags" ma:readOnly="false" ma:fieldId="{5cf76f15-5ced-4ddc-b409-7134ff3c332f}" ma:taxonomyMulti="true" ma:sspId="10820af1-e82f-496e-bbcb-d9502914b7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3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238861-3DAC-4F8A-8FBD-A33F14A90246}">
  <ds:schemaRefs>
    <ds:schemaRef ds:uri="http://schemas.openxmlformats.org/package/2006/metadata/core-properties"/>
    <ds:schemaRef ds:uri="f073fbe8-cd14-421d-b654-f7fcf33797cd"/>
    <ds:schemaRef ds:uri="http://purl.org/dc/terms/"/>
    <ds:schemaRef ds:uri="http://schemas.microsoft.com/office/2006/documentManagement/types"/>
    <ds:schemaRef ds:uri="18cad988-1117-4da2-9673-3e82961b493c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79EEEB4-116B-45D7-A00E-4485C1BF49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CE9F89-0E81-483B-8640-9DFC736D00D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8A7B822D-4A5A-4A0D-8D84-E7D16E39F9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073fbe8-cd14-421d-b654-f7fcf33797cd"/>
    <ds:schemaRef ds:uri="18cad988-1117-4da2-9673-3e82961b49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DesignAllianz Benutzerfarben</Template>
  <TotalTime>90</TotalTime>
  <Words>1020</Words>
  <Application>Microsoft Office PowerPoint</Application>
  <PresentationFormat>Personalizado</PresentationFormat>
  <Paragraphs>197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menlo</vt:lpstr>
      <vt:lpstr>Calibri</vt:lpstr>
      <vt:lpstr>Allianz Neo PPT</vt:lpstr>
      <vt:lpstr>Arial</vt:lpstr>
      <vt:lpstr>Allianz white</vt:lpstr>
      <vt:lpstr>Allianz blue</vt:lpstr>
      <vt:lpstr>Prueba para Profesional Senior de Ciencia de Datos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Mik Schulz</dc:creator>
  <cp:lastModifiedBy>juan carlos baez lizarazo</cp:lastModifiedBy>
  <cp:revision>166</cp:revision>
  <dcterms:created xsi:type="dcterms:W3CDTF">2021-05-25T12:15:33Z</dcterms:created>
  <dcterms:modified xsi:type="dcterms:W3CDTF">2026-02-03T02:10:23Z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0x010100654D8E7A87900347BD2A1998CCBA131D</vt:lpwstr>
  </property>
  <property fmtid="{D5CDD505-2E9C-101B-9397-08002B2CF9AE}" pid="3" name="MSIP_Label_ce5f591a-3248-43e9-9b70-1ad50135772d_Enabled">
    <vt:lpwstr>true</vt:lpwstr>
  </property>
  <property fmtid="{D5CDD505-2E9C-101B-9397-08002B2CF9AE}" pid="4" name="MSIP_Label_ce5f591a-3248-43e9-9b70-1ad50135772d_SetDate">
    <vt:lpwstr>2022-03-19T07:04:02Z</vt:lpwstr>
  </property>
  <property fmtid="{D5CDD505-2E9C-101B-9397-08002B2CF9AE}" pid="5" name="MSIP_Label_ce5f591a-3248-43e9-9b70-1ad50135772d_Method">
    <vt:lpwstr>Privileged</vt:lpwstr>
  </property>
  <property fmtid="{D5CDD505-2E9C-101B-9397-08002B2CF9AE}" pid="6" name="MSIP_Label_ce5f591a-3248-43e9-9b70-1ad50135772d_Name">
    <vt:lpwstr>ce5f591a-3248-43e9-9b70-1ad50135772d</vt:lpwstr>
  </property>
  <property fmtid="{D5CDD505-2E9C-101B-9397-08002B2CF9AE}" pid="7" name="MSIP_Label_ce5f591a-3248-43e9-9b70-1ad50135772d_SiteId">
    <vt:lpwstr>6e06e42d-6925-47c6-b9e7-9581c7ca302a</vt:lpwstr>
  </property>
  <property fmtid="{D5CDD505-2E9C-101B-9397-08002B2CF9AE}" pid="8" name="MSIP_Label_ce5f591a-3248-43e9-9b70-1ad50135772d_ActionId">
    <vt:lpwstr>96726db4-65be-40ee-8760-4dfd9c4964ec</vt:lpwstr>
  </property>
  <property fmtid="{D5CDD505-2E9C-101B-9397-08002B2CF9AE}" pid="9" name="MSIP_Label_ce5f591a-3248-43e9-9b70-1ad50135772d_ContentBits">
    <vt:lpwstr>0</vt:lpwstr>
  </property>
  <property fmtid="{D5CDD505-2E9C-101B-9397-08002B2CF9AE}" pid="10" name="_dlc_DocIdItemGuid">
    <vt:lpwstr>52d1783d-4192-4c62-a6ca-3bf849e0acee</vt:lpwstr>
  </property>
  <property fmtid="{D5CDD505-2E9C-101B-9397-08002B2CF9AE}" pid="11" name="Contract_Type">
    <vt:lpwstr/>
  </property>
  <property fmtid="{D5CDD505-2E9C-101B-9397-08002B2CF9AE}" pid="12" name="Document_Class">
    <vt:lpwstr/>
  </property>
  <property fmtid="{D5CDD505-2E9C-101B-9397-08002B2CF9AE}" pid="13" name="MediaServiceImageTags">
    <vt:lpwstr/>
  </property>
  <property fmtid="{D5CDD505-2E9C-101B-9397-08002B2CF9AE}" pid="14" name="dc63062439de4820aaadfa769e50bdf7">
    <vt:lpwstr/>
  </property>
  <property fmtid="{D5CDD505-2E9C-101B-9397-08002B2CF9AE}" pid="15" name="DossierDepartment">
    <vt:lpwstr/>
  </property>
  <property fmtid="{D5CDD505-2E9C-101B-9397-08002B2CF9AE}" pid="16" name="k4db093f2d1c4c91b02c240d36136c74">
    <vt:lpwstr/>
  </property>
  <property fmtid="{D5CDD505-2E9C-101B-9397-08002B2CF9AE}" pid="17" name="AllianzContractingParties">
    <vt:lpwstr/>
  </property>
</Properties>
</file>